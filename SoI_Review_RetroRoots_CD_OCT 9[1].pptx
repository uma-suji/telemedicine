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5" r:id="rId5"/>
    <p:sldId id="259" r:id="rId6"/>
    <p:sldId id="260" r:id="rId7"/>
    <p:sldId id="261" r:id="rId8"/>
    <p:sldId id="262" r:id="rId9"/>
    <p:sldId id="263" r:id="rId10"/>
    <p:sldId id="264" r:id="rId11"/>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810" autoAdjust="0"/>
  </p:normalViewPr>
  <p:slideViewPr>
    <p:cSldViewPr>
      <p:cViewPr varScale="1">
        <p:scale>
          <a:sx n="76" d="100"/>
          <a:sy n="76" d="100"/>
        </p:scale>
        <p:origin x="1642"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600" b="0" i="0">
                <a:solidFill>
                  <a:srgbClr val="90C224"/>
                </a:solidFill>
                <a:latin typeface="Trebuchet MS"/>
                <a:cs typeface="Trebuchet MS"/>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90C224"/>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90C224"/>
                </a:solidFill>
                <a:latin typeface="Trebuchet MS"/>
                <a:cs typeface="Trebuchet MS"/>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90C224"/>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072128"/>
            <a:ext cx="447675" cy="2785745"/>
          </a:xfrm>
          <a:custGeom>
            <a:avLst/>
            <a:gdLst/>
            <a:ahLst/>
            <a:cxnLst/>
            <a:rect l="l" t="t" r="r" b="b"/>
            <a:pathLst>
              <a:path w="447675" h="2785745">
                <a:moveTo>
                  <a:pt x="0" y="0"/>
                </a:moveTo>
                <a:lnTo>
                  <a:pt x="0" y="2785581"/>
                </a:lnTo>
                <a:lnTo>
                  <a:pt x="447598" y="2785581"/>
                </a:lnTo>
                <a:lnTo>
                  <a:pt x="0" y="0"/>
                </a:lnTo>
                <a:close/>
              </a:path>
            </a:pathLst>
          </a:custGeom>
          <a:solidFill>
            <a:srgbClr val="90C224">
              <a:alpha val="85096"/>
            </a:srgbClr>
          </a:solidFill>
        </p:spPr>
        <p:txBody>
          <a:bodyPr wrap="square" lIns="0" tIns="0" rIns="0" bIns="0" rtlCol="0"/>
          <a:lstStyle/>
          <a:p>
            <a:endParaRPr/>
          </a:p>
        </p:txBody>
      </p:sp>
      <p:sp>
        <p:nvSpPr>
          <p:cNvPr id="17" name="bg object 17"/>
          <p:cNvSpPr/>
          <p:nvPr/>
        </p:nvSpPr>
        <p:spPr>
          <a:xfrm>
            <a:off x="5134356" y="4186428"/>
            <a:ext cx="4010660" cy="2672715"/>
          </a:xfrm>
          <a:custGeom>
            <a:avLst/>
            <a:gdLst/>
            <a:ahLst/>
            <a:cxnLst/>
            <a:rect l="l" t="t" r="r" b="b"/>
            <a:pathLst>
              <a:path w="4010659" h="2672715">
                <a:moveTo>
                  <a:pt x="0" y="2672669"/>
                </a:moveTo>
                <a:lnTo>
                  <a:pt x="4010660" y="0"/>
                </a:lnTo>
              </a:path>
            </a:pathLst>
          </a:custGeom>
          <a:ln w="9144">
            <a:solidFill>
              <a:srgbClr val="D9D9D9"/>
            </a:solidFill>
          </a:ln>
        </p:spPr>
        <p:txBody>
          <a:bodyPr wrap="square" lIns="0" tIns="0" rIns="0" bIns="0" rtlCol="0"/>
          <a:lstStyle/>
          <a:p>
            <a:endParaRPr/>
          </a:p>
        </p:txBody>
      </p:sp>
      <p:sp>
        <p:nvSpPr>
          <p:cNvPr id="18" name="bg object 18"/>
          <p:cNvSpPr/>
          <p:nvPr/>
        </p:nvSpPr>
        <p:spPr>
          <a:xfrm>
            <a:off x="7045452" y="4572"/>
            <a:ext cx="1218565" cy="6853555"/>
          </a:xfrm>
          <a:custGeom>
            <a:avLst/>
            <a:gdLst/>
            <a:ahLst/>
            <a:cxnLst/>
            <a:rect l="l" t="t" r="r" b="b"/>
            <a:pathLst>
              <a:path w="1218565" h="6853555">
                <a:moveTo>
                  <a:pt x="0" y="0"/>
                </a:moveTo>
                <a:lnTo>
                  <a:pt x="1218387" y="6853428"/>
                </a:lnTo>
              </a:path>
            </a:pathLst>
          </a:custGeom>
          <a:ln w="9144">
            <a:solidFill>
              <a:srgbClr val="BDBDBD"/>
            </a:solidFill>
          </a:ln>
        </p:spPr>
        <p:txBody>
          <a:bodyPr wrap="square" lIns="0" tIns="0" rIns="0" bIns="0" rtlCol="0"/>
          <a:lstStyle/>
          <a:p>
            <a:endParaRPr/>
          </a:p>
        </p:txBody>
      </p:sp>
      <p:sp>
        <p:nvSpPr>
          <p:cNvPr id="19" name="bg object 19"/>
          <p:cNvSpPr/>
          <p:nvPr/>
        </p:nvSpPr>
        <p:spPr>
          <a:xfrm>
            <a:off x="6891528" y="0"/>
            <a:ext cx="2252345" cy="6858000"/>
          </a:xfrm>
          <a:custGeom>
            <a:avLst/>
            <a:gdLst/>
            <a:ahLst/>
            <a:cxnLst/>
            <a:rect l="l" t="t" r="r" b="b"/>
            <a:pathLst>
              <a:path w="2252345" h="6858000">
                <a:moveTo>
                  <a:pt x="2024633" y="0"/>
                </a:moveTo>
                <a:lnTo>
                  <a:pt x="0" y="6857999"/>
                </a:lnTo>
                <a:lnTo>
                  <a:pt x="2252345" y="6857999"/>
                </a:lnTo>
                <a:lnTo>
                  <a:pt x="2252345" y="8127"/>
                </a:lnTo>
                <a:lnTo>
                  <a:pt x="2024633" y="0"/>
                </a:lnTo>
                <a:close/>
              </a:path>
            </a:pathLst>
          </a:custGeom>
          <a:solidFill>
            <a:srgbClr val="90C224">
              <a:alpha val="30195"/>
            </a:srgbClr>
          </a:solidFill>
        </p:spPr>
        <p:txBody>
          <a:bodyPr wrap="square" lIns="0" tIns="0" rIns="0" bIns="0" rtlCol="0"/>
          <a:lstStyle/>
          <a:p>
            <a:endParaRPr/>
          </a:p>
        </p:txBody>
      </p:sp>
      <p:sp>
        <p:nvSpPr>
          <p:cNvPr id="20" name="bg object 20"/>
          <p:cNvSpPr/>
          <p:nvPr/>
        </p:nvSpPr>
        <p:spPr>
          <a:xfrm>
            <a:off x="7208520" y="0"/>
            <a:ext cx="1935480" cy="6858000"/>
          </a:xfrm>
          <a:custGeom>
            <a:avLst/>
            <a:gdLst/>
            <a:ahLst/>
            <a:cxnLst/>
            <a:rect l="l" t="t" r="r" b="b"/>
            <a:pathLst>
              <a:path w="1935479" h="6858000">
                <a:moveTo>
                  <a:pt x="1934972" y="0"/>
                </a:moveTo>
                <a:lnTo>
                  <a:pt x="0" y="0"/>
                </a:lnTo>
                <a:lnTo>
                  <a:pt x="1199133" y="6857999"/>
                </a:lnTo>
                <a:lnTo>
                  <a:pt x="1934972" y="6857999"/>
                </a:lnTo>
                <a:lnTo>
                  <a:pt x="1934972" y="0"/>
                </a:lnTo>
                <a:close/>
              </a:path>
            </a:pathLst>
          </a:custGeom>
          <a:solidFill>
            <a:srgbClr val="90C224">
              <a:alpha val="19999"/>
            </a:srgbClr>
          </a:solidFill>
        </p:spPr>
        <p:txBody>
          <a:bodyPr wrap="square" lIns="0" tIns="0" rIns="0" bIns="0" rtlCol="0"/>
          <a:lstStyle/>
          <a:p>
            <a:endParaRPr/>
          </a:p>
        </p:txBody>
      </p:sp>
      <p:sp>
        <p:nvSpPr>
          <p:cNvPr id="21" name="bg object 21"/>
          <p:cNvSpPr/>
          <p:nvPr/>
        </p:nvSpPr>
        <p:spPr>
          <a:xfrm>
            <a:off x="6638544" y="3919728"/>
            <a:ext cx="2505710" cy="2938145"/>
          </a:xfrm>
          <a:custGeom>
            <a:avLst/>
            <a:gdLst/>
            <a:ahLst/>
            <a:cxnLst/>
            <a:rect l="l" t="t" r="r" b="b"/>
            <a:pathLst>
              <a:path w="2505709" h="2938145">
                <a:moveTo>
                  <a:pt x="2504821" y="0"/>
                </a:moveTo>
                <a:lnTo>
                  <a:pt x="0" y="2937765"/>
                </a:lnTo>
                <a:lnTo>
                  <a:pt x="2505202" y="2937765"/>
                </a:lnTo>
                <a:lnTo>
                  <a:pt x="2505202" y="202565"/>
                </a:lnTo>
                <a:lnTo>
                  <a:pt x="2504821" y="0"/>
                </a:lnTo>
                <a:close/>
              </a:path>
            </a:pathLst>
          </a:custGeom>
          <a:solidFill>
            <a:srgbClr val="529F1F">
              <a:alpha val="72155"/>
            </a:srgbClr>
          </a:solidFill>
        </p:spPr>
        <p:txBody>
          <a:bodyPr wrap="square" lIns="0" tIns="0" rIns="0" bIns="0" rtlCol="0"/>
          <a:lstStyle/>
          <a:p>
            <a:endParaRPr/>
          </a:p>
        </p:txBody>
      </p:sp>
      <p:sp>
        <p:nvSpPr>
          <p:cNvPr id="22" name="bg object 22"/>
          <p:cNvSpPr/>
          <p:nvPr/>
        </p:nvSpPr>
        <p:spPr>
          <a:xfrm>
            <a:off x="7013448" y="0"/>
            <a:ext cx="2130425" cy="6858000"/>
          </a:xfrm>
          <a:custGeom>
            <a:avLst/>
            <a:gdLst/>
            <a:ahLst/>
            <a:cxnLst/>
            <a:rect l="l" t="t" r="r" b="b"/>
            <a:pathLst>
              <a:path w="2130425" h="6858000">
                <a:moveTo>
                  <a:pt x="2130044" y="0"/>
                </a:moveTo>
                <a:lnTo>
                  <a:pt x="0" y="0"/>
                </a:lnTo>
                <a:lnTo>
                  <a:pt x="1853183" y="6857999"/>
                </a:lnTo>
                <a:lnTo>
                  <a:pt x="2130044" y="6849801"/>
                </a:lnTo>
                <a:lnTo>
                  <a:pt x="2130044" y="0"/>
                </a:lnTo>
                <a:close/>
              </a:path>
            </a:pathLst>
          </a:custGeom>
          <a:solidFill>
            <a:srgbClr val="3D7817">
              <a:alpha val="70195"/>
            </a:srgbClr>
          </a:solidFill>
        </p:spPr>
        <p:txBody>
          <a:bodyPr wrap="square" lIns="0" tIns="0" rIns="0" bIns="0" rtlCol="0"/>
          <a:lstStyle/>
          <a:p>
            <a:endParaRPr/>
          </a:p>
        </p:txBody>
      </p:sp>
      <p:sp>
        <p:nvSpPr>
          <p:cNvPr id="23" name="bg object 23"/>
          <p:cNvSpPr/>
          <p:nvPr/>
        </p:nvSpPr>
        <p:spPr>
          <a:xfrm>
            <a:off x="8296656" y="0"/>
            <a:ext cx="847090" cy="6858000"/>
          </a:xfrm>
          <a:custGeom>
            <a:avLst/>
            <a:gdLst/>
            <a:ahLst/>
            <a:cxnLst/>
            <a:rect l="l" t="t" r="r" b="b"/>
            <a:pathLst>
              <a:path w="847090" h="6858000">
                <a:moveTo>
                  <a:pt x="846963" y="0"/>
                </a:moveTo>
                <a:lnTo>
                  <a:pt x="675004" y="0"/>
                </a:lnTo>
                <a:lnTo>
                  <a:pt x="0" y="6857999"/>
                </a:lnTo>
                <a:lnTo>
                  <a:pt x="846963" y="6857999"/>
                </a:lnTo>
                <a:lnTo>
                  <a:pt x="846963" y="0"/>
                </a:lnTo>
                <a:close/>
              </a:path>
            </a:pathLst>
          </a:custGeom>
          <a:solidFill>
            <a:srgbClr val="C0E274">
              <a:alpha val="70195"/>
            </a:srgbClr>
          </a:solidFill>
        </p:spPr>
        <p:txBody>
          <a:bodyPr wrap="square" lIns="0" tIns="0" rIns="0" bIns="0" rtlCol="0"/>
          <a:lstStyle/>
          <a:p>
            <a:endParaRPr/>
          </a:p>
        </p:txBody>
      </p:sp>
      <p:sp>
        <p:nvSpPr>
          <p:cNvPr id="24" name="bg object 24"/>
          <p:cNvSpPr/>
          <p:nvPr/>
        </p:nvSpPr>
        <p:spPr>
          <a:xfrm>
            <a:off x="8077200" y="0"/>
            <a:ext cx="1066165" cy="6858000"/>
          </a:xfrm>
          <a:custGeom>
            <a:avLst/>
            <a:gdLst/>
            <a:ahLst/>
            <a:cxnLst/>
            <a:rect l="l" t="t" r="r" b="b"/>
            <a:pathLst>
              <a:path w="1066165" h="6858000">
                <a:moveTo>
                  <a:pt x="1051686" y="0"/>
                </a:moveTo>
                <a:lnTo>
                  <a:pt x="0" y="0"/>
                </a:lnTo>
                <a:lnTo>
                  <a:pt x="938022" y="6857999"/>
                </a:lnTo>
                <a:lnTo>
                  <a:pt x="1065910" y="6857999"/>
                </a:lnTo>
                <a:lnTo>
                  <a:pt x="1066165" y="6196126"/>
                </a:lnTo>
                <a:lnTo>
                  <a:pt x="1051559" y="398272"/>
                </a:lnTo>
                <a:lnTo>
                  <a:pt x="1051686" y="0"/>
                </a:lnTo>
                <a:close/>
              </a:path>
            </a:pathLst>
          </a:custGeom>
          <a:solidFill>
            <a:srgbClr val="90C224">
              <a:alpha val="65097"/>
            </a:srgbClr>
          </a:solidFill>
        </p:spPr>
        <p:txBody>
          <a:bodyPr wrap="square" lIns="0" tIns="0" rIns="0" bIns="0" rtlCol="0"/>
          <a:lstStyle/>
          <a:p>
            <a:endParaRPr/>
          </a:p>
        </p:txBody>
      </p:sp>
      <p:sp>
        <p:nvSpPr>
          <p:cNvPr id="25" name="bg object 25"/>
          <p:cNvSpPr/>
          <p:nvPr/>
        </p:nvSpPr>
        <p:spPr>
          <a:xfrm>
            <a:off x="8058912" y="4901184"/>
            <a:ext cx="1085215" cy="1957070"/>
          </a:xfrm>
          <a:custGeom>
            <a:avLst/>
            <a:gdLst/>
            <a:ahLst/>
            <a:cxnLst/>
            <a:rect l="l" t="t" r="r" b="b"/>
            <a:pathLst>
              <a:path w="1085215" h="1957070">
                <a:moveTo>
                  <a:pt x="1084961" y="0"/>
                </a:moveTo>
                <a:lnTo>
                  <a:pt x="0" y="1956602"/>
                </a:lnTo>
                <a:lnTo>
                  <a:pt x="1084961" y="1951556"/>
                </a:lnTo>
                <a:lnTo>
                  <a:pt x="1084961" y="0"/>
                </a:lnTo>
                <a:close/>
              </a:path>
            </a:pathLst>
          </a:custGeom>
          <a:solidFill>
            <a:srgbClr val="90C224">
              <a:alpha val="79998"/>
            </a:srgbClr>
          </a:solidFill>
        </p:spPr>
        <p:txBody>
          <a:bodyPr wrap="square" lIns="0" tIns="0" rIns="0" bIns="0" rtlCol="0"/>
          <a:lstStyle/>
          <a:p>
            <a:endParaRPr/>
          </a:p>
        </p:txBody>
      </p:sp>
      <p:sp>
        <p:nvSpPr>
          <p:cNvPr id="2" name="Holder 2"/>
          <p:cNvSpPr>
            <a:spLocks noGrp="1"/>
          </p:cNvSpPr>
          <p:nvPr>
            <p:ph type="title"/>
          </p:nvPr>
        </p:nvSpPr>
        <p:spPr>
          <a:xfrm>
            <a:off x="688340" y="619505"/>
            <a:ext cx="4251325" cy="1123314"/>
          </a:xfrm>
          <a:prstGeom prst="rect">
            <a:avLst/>
          </a:prstGeom>
        </p:spPr>
        <p:txBody>
          <a:bodyPr wrap="square" lIns="0" tIns="0" rIns="0" bIns="0">
            <a:spAutoFit/>
          </a:bodyPr>
          <a:lstStyle>
            <a:lvl1pPr>
              <a:defRPr sz="3600" b="0" i="0">
                <a:solidFill>
                  <a:srgbClr val="90C224"/>
                </a:solidFill>
                <a:latin typeface="Trebuchet MS"/>
                <a:cs typeface="Trebuchet MS"/>
              </a:defRPr>
            </a:lvl1pPr>
          </a:lstStyle>
          <a:p>
            <a:endParaRPr/>
          </a:p>
        </p:txBody>
      </p:sp>
      <p:sp>
        <p:nvSpPr>
          <p:cNvPr id="3" name="Holder 3"/>
          <p:cNvSpPr>
            <a:spLocks noGrp="1"/>
          </p:cNvSpPr>
          <p:nvPr>
            <p:ph type="body" idx="1"/>
          </p:nvPr>
        </p:nvSpPr>
        <p:spPr>
          <a:xfrm>
            <a:off x="406400" y="1450339"/>
            <a:ext cx="8318500" cy="478345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10/9/2025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129784" y="0"/>
            <a:ext cx="4020185" cy="6863715"/>
            <a:chOff x="5129784" y="0"/>
            <a:chExt cx="4020185" cy="6863715"/>
          </a:xfrm>
        </p:grpSpPr>
        <p:sp>
          <p:nvSpPr>
            <p:cNvPr id="3" name="object 3"/>
            <p:cNvSpPr/>
            <p:nvPr/>
          </p:nvSpPr>
          <p:spPr>
            <a:xfrm>
              <a:off x="5134356" y="4186428"/>
              <a:ext cx="4010660" cy="2672715"/>
            </a:xfrm>
            <a:custGeom>
              <a:avLst/>
              <a:gdLst/>
              <a:ahLst/>
              <a:cxnLst/>
              <a:rect l="l" t="t" r="r" b="b"/>
              <a:pathLst>
                <a:path w="4010659" h="2672715">
                  <a:moveTo>
                    <a:pt x="0" y="2672669"/>
                  </a:moveTo>
                  <a:lnTo>
                    <a:pt x="4010660" y="0"/>
                  </a:lnTo>
                </a:path>
              </a:pathLst>
            </a:custGeom>
            <a:ln w="9144">
              <a:solidFill>
                <a:srgbClr val="D9D9D9"/>
              </a:solidFill>
            </a:ln>
          </p:spPr>
          <p:txBody>
            <a:bodyPr wrap="square" lIns="0" tIns="0" rIns="0" bIns="0" rtlCol="0"/>
            <a:lstStyle/>
            <a:p>
              <a:endParaRPr/>
            </a:p>
          </p:txBody>
        </p:sp>
        <p:sp>
          <p:nvSpPr>
            <p:cNvPr id="4" name="object 4"/>
            <p:cNvSpPr/>
            <p:nvPr/>
          </p:nvSpPr>
          <p:spPr>
            <a:xfrm>
              <a:off x="7045452" y="4572"/>
              <a:ext cx="1218565" cy="6853555"/>
            </a:xfrm>
            <a:custGeom>
              <a:avLst/>
              <a:gdLst/>
              <a:ahLst/>
              <a:cxnLst/>
              <a:rect l="l" t="t" r="r" b="b"/>
              <a:pathLst>
                <a:path w="1218565" h="6853555">
                  <a:moveTo>
                    <a:pt x="0" y="0"/>
                  </a:moveTo>
                  <a:lnTo>
                    <a:pt x="1218387" y="6853428"/>
                  </a:lnTo>
                </a:path>
              </a:pathLst>
            </a:custGeom>
            <a:ln w="9144">
              <a:solidFill>
                <a:srgbClr val="BDBDBD"/>
              </a:solidFill>
            </a:ln>
          </p:spPr>
          <p:txBody>
            <a:bodyPr wrap="square" lIns="0" tIns="0" rIns="0" bIns="0" rtlCol="0"/>
            <a:lstStyle/>
            <a:p>
              <a:endParaRPr/>
            </a:p>
          </p:txBody>
        </p:sp>
        <p:sp>
          <p:nvSpPr>
            <p:cNvPr id="5" name="object 5"/>
            <p:cNvSpPr/>
            <p:nvPr/>
          </p:nvSpPr>
          <p:spPr>
            <a:xfrm>
              <a:off x="6891528" y="0"/>
              <a:ext cx="2252345" cy="6858000"/>
            </a:xfrm>
            <a:custGeom>
              <a:avLst/>
              <a:gdLst/>
              <a:ahLst/>
              <a:cxnLst/>
              <a:rect l="l" t="t" r="r" b="b"/>
              <a:pathLst>
                <a:path w="2252345" h="6858000">
                  <a:moveTo>
                    <a:pt x="2024633" y="0"/>
                  </a:moveTo>
                  <a:lnTo>
                    <a:pt x="0" y="6857999"/>
                  </a:lnTo>
                  <a:lnTo>
                    <a:pt x="2252345" y="6857999"/>
                  </a:lnTo>
                  <a:lnTo>
                    <a:pt x="2252345" y="8127"/>
                  </a:lnTo>
                  <a:lnTo>
                    <a:pt x="2024633" y="0"/>
                  </a:lnTo>
                  <a:close/>
                </a:path>
              </a:pathLst>
            </a:custGeom>
            <a:solidFill>
              <a:srgbClr val="90C224">
                <a:alpha val="30195"/>
              </a:srgbClr>
            </a:solidFill>
          </p:spPr>
          <p:txBody>
            <a:bodyPr wrap="square" lIns="0" tIns="0" rIns="0" bIns="0" rtlCol="0"/>
            <a:lstStyle/>
            <a:p>
              <a:endParaRPr/>
            </a:p>
          </p:txBody>
        </p:sp>
        <p:sp>
          <p:nvSpPr>
            <p:cNvPr id="6" name="object 6"/>
            <p:cNvSpPr/>
            <p:nvPr/>
          </p:nvSpPr>
          <p:spPr>
            <a:xfrm>
              <a:off x="7208520" y="0"/>
              <a:ext cx="1935480" cy="6858000"/>
            </a:xfrm>
            <a:custGeom>
              <a:avLst/>
              <a:gdLst/>
              <a:ahLst/>
              <a:cxnLst/>
              <a:rect l="l" t="t" r="r" b="b"/>
              <a:pathLst>
                <a:path w="1935479" h="6858000">
                  <a:moveTo>
                    <a:pt x="1934972" y="0"/>
                  </a:moveTo>
                  <a:lnTo>
                    <a:pt x="0" y="0"/>
                  </a:lnTo>
                  <a:lnTo>
                    <a:pt x="1199133" y="6857999"/>
                  </a:lnTo>
                  <a:lnTo>
                    <a:pt x="1934972" y="6857999"/>
                  </a:lnTo>
                  <a:lnTo>
                    <a:pt x="1934972" y="0"/>
                  </a:lnTo>
                  <a:close/>
                </a:path>
              </a:pathLst>
            </a:custGeom>
            <a:solidFill>
              <a:srgbClr val="90C224">
                <a:alpha val="19999"/>
              </a:srgbClr>
            </a:solidFill>
          </p:spPr>
          <p:txBody>
            <a:bodyPr wrap="square" lIns="0" tIns="0" rIns="0" bIns="0" rtlCol="0"/>
            <a:lstStyle/>
            <a:p>
              <a:endParaRPr/>
            </a:p>
          </p:txBody>
        </p:sp>
        <p:sp>
          <p:nvSpPr>
            <p:cNvPr id="7" name="object 7"/>
            <p:cNvSpPr/>
            <p:nvPr/>
          </p:nvSpPr>
          <p:spPr>
            <a:xfrm>
              <a:off x="6638544" y="3919728"/>
              <a:ext cx="2505710" cy="2938145"/>
            </a:xfrm>
            <a:custGeom>
              <a:avLst/>
              <a:gdLst/>
              <a:ahLst/>
              <a:cxnLst/>
              <a:rect l="l" t="t" r="r" b="b"/>
              <a:pathLst>
                <a:path w="2505709" h="2938145">
                  <a:moveTo>
                    <a:pt x="2504821" y="0"/>
                  </a:moveTo>
                  <a:lnTo>
                    <a:pt x="0" y="2937765"/>
                  </a:lnTo>
                  <a:lnTo>
                    <a:pt x="2505202" y="2937765"/>
                  </a:lnTo>
                  <a:lnTo>
                    <a:pt x="2505202" y="202565"/>
                  </a:lnTo>
                  <a:lnTo>
                    <a:pt x="2504821" y="0"/>
                  </a:lnTo>
                  <a:close/>
                </a:path>
              </a:pathLst>
            </a:custGeom>
            <a:solidFill>
              <a:srgbClr val="529F1F">
                <a:alpha val="72155"/>
              </a:srgbClr>
            </a:solidFill>
          </p:spPr>
          <p:txBody>
            <a:bodyPr wrap="square" lIns="0" tIns="0" rIns="0" bIns="0" rtlCol="0"/>
            <a:lstStyle/>
            <a:p>
              <a:endParaRPr/>
            </a:p>
          </p:txBody>
        </p:sp>
        <p:sp>
          <p:nvSpPr>
            <p:cNvPr id="8" name="object 8"/>
            <p:cNvSpPr/>
            <p:nvPr/>
          </p:nvSpPr>
          <p:spPr>
            <a:xfrm>
              <a:off x="7013448" y="0"/>
              <a:ext cx="2130425" cy="6858000"/>
            </a:xfrm>
            <a:custGeom>
              <a:avLst/>
              <a:gdLst/>
              <a:ahLst/>
              <a:cxnLst/>
              <a:rect l="l" t="t" r="r" b="b"/>
              <a:pathLst>
                <a:path w="2130425" h="6858000">
                  <a:moveTo>
                    <a:pt x="2130044" y="0"/>
                  </a:moveTo>
                  <a:lnTo>
                    <a:pt x="0" y="0"/>
                  </a:lnTo>
                  <a:lnTo>
                    <a:pt x="1853183" y="6857999"/>
                  </a:lnTo>
                  <a:lnTo>
                    <a:pt x="2130044" y="6849801"/>
                  </a:lnTo>
                  <a:lnTo>
                    <a:pt x="2130044" y="0"/>
                  </a:lnTo>
                  <a:close/>
                </a:path>
              </a:pathLst>
            </a:custGeom>
            <a:solidFill>
              <a:srgbClr val="3D7817">
                <a:alpha val="70195"/>
              </a:srgbClr>
            </a:solidFill>
          </p:spPr>
          <p:txBody>
            <a:bodyPr wrap="square" lIns="0" tIns="0" rIns="0" bIns="0" rtlCol="0"/>
            <a:lstStyle/>
            <a:p>
              <a:endParaRPr/>
            </a:p>
          </p:txBody>
        </p:sp>
        <p:sp>
          <p:nvSpPr>
            <p:cNvPr id="9" name="object 9"/>
            <p:cNvSpPr/>
            <p:nvPr/>
          </p:nvSpPr>
          <p:spPr>
            <a:xfrm>
              <a:off x="8296656" y="0"/>
              <a:ext cx="847090" cy="6858000"/>
            </a:xfrm>
            <a:custGeom>
              <a:avLst/>
              <a:gdLst/>
              <a:ahLst/>
              <a:cxnLst/>
              <a:rect l="l" t="t" r="r" b="b"/>
              <a:pathLst>
                <a:path w="847090" h="6858000">
                  <a:moveTo>
                    <a:pt x="846963" y="0"/>
                  </a:moveTo>
                  <a:lnTo>
                    <a:pt x="675004" y="0"/>
                  </a:lnTo>
                  <a:lnTo>
                    <a:pt x="0" y="6857999"/>
                  </a:lnTo>
                  <a:lnTo>
                    <a:pt x="846963" y="6857999"/>
                  </a:lnTo>
                  <a:lnTo>
                    <a:pt x="846963" y="0"/>
                  </a:lnTo>
                  <a:close/>
                </a:path>
              </a:pathLst>
            </a:custGeom>
            <a:solidFill>
              <a:srgbClr val="C0E274">
                <a:alpha val="70195"/>
              </a:srgbClr>
            </a:solidFill>
          </p:spPr>
          <p:txBody>
            <a:bodyPr wrap="square" lIns="0" tIns="0" rIns="0" bIns="0" rtlCol="0"/>
            <a:lstStyle/>
            <a:p>
              <a:endParaRPr/>
            </a:p>
          </p:txBody>
        </p:sp>
        <p:sp>
          <p:nvSpPr>
            <p:cNvPr id="10" name="object 10"/>
            <p:cNvSpPr/>
            <p:nvPr/>
          </p:nvSpPr>
          <p:spPr>
            <a:xfrm>
              <a:off x="8077200" y="0"/>
              <a:ext cx="1066165" cy="6858000"/>
            </a:xfrm>
            <a:custGeom>
              <a:avLst/>
              <a:gdLst/>
              <a:ahLst/>
              <a:cxnLst/>
              <a:rect l="l" t="t" r="r" b="b"/>
              <a:pathLst>
                <a:path w="1066165" h="6858000">
                  <a:moveTo>
                    <a:pt x="1051686" y="0"/>
                  </a:moveTo>
                  <a:lnTo>
                    <a:pt x="0" y="0"/>
                  </a:lnTo>
                  <a:lnTo>
                    <a:pt x="938022" y="6857999"/>
                  </a:lnTo>
                  <a:lnTo>
                    <a:pt x="1065910" y="6857999"/>
                  </a:lnTo>
                  <a:lnTo>
                    <a:pt x="1066165" y="6196126"/>
                  </a:lnTo>
                  <a:lnTo>
                    <a:pt x="1051559" y="398272"/>
                  </a:lnTo>
                  <a:lnTo>
                    <a:pt x="1051686" y="0"/>
                  </a:lnTo>
                  <a:close/>
                </a:path>
              </a:pathLst>
            </a:custGeom>
            <a:solidFill>
              <a:srgbClr val="90C224">
                <a:alpha val="65097"/>
              </a:srgbClr>
            </a:solidFill>
          </p:spPr>
          <p:txBody>
            <a:bodyPr wrap="square" lIns="0" tIns="0" rIns="0" bIns="0" rtlCol="0"/>
            <a:lstStyle/>
            <a:p>
              <a:endParaRPr/>
            </a:p>
          </p:txBody>
        </p:sp>
        <p:sp>
          <p:nvSpPr>
            <p:cNvPr id="11" name="object 11"/>
            <p:cNvSpPr/>
            <p:nvPr/>
          </p:nvSpPr>
          <p:spPr>
            <a:xfrm>
              <a:off x="8058912" y="4901184"/>
              <a:ext cx="1085215" cy="1957070"/>
            </a:xfrm>
            <a:custGeom>
              <a:avLst/>
              <a:gdLst/>
              <a:ahLst/>
              <a:cxnLst/>
              <a:rect l="l" t="t" r="r" b="b"/>
              <a:pathLst>
                <a:path w="1085215" h="1957070">
                  <a:moveTo>
                    <a:pt x="1084961" y="0"/>
                  </a:moveTo>
                  <a:lnTo>
                    <a:pt x="0" y="1956602"/>
                  </a:lnTo>
                  <a:lnTo>
                    <a:pt x="1084961" y="1951556"/>
                  </a:lnTo>
                  <a:lnTo>
                    <a:pt x="1084961" y="0"/>
                  </a:lnTo>
                  <a:close/>
                </a:path>
              </a:pathLst>
            </a:custGeom>
            <a:solidFill>
              <a:srgbClr val="90C224">
                <a:alpha val="79998"/>
              </a:srgbClr>
            </a:solidFill>
          </p:spPr>
          <p:txBody>
            <a:bodyPr wrap="square" lIns="0" tIns="0" rIns="0" bIns="0" rtlCol="0"/>
            <a:lstStyle/>
            <a:p>
              <a:endParaRPr/>
            </a:p>
          </p:txBody>
        </p:sp>
      </p:grpSp>
      <p:sp>
        <p:nvSpPr>
          <p:cNvPr id="12" name="object 12"/>
          <p:cNvSpPr/>
          <p:nvPr/>
        </p:nvSpPr>
        <p:spPr>
          <a:xfrm>
            <a:off x="0" y="0"/>
            <a:ext cx="856615" cy="5632450"/>
          </a:xfrm>
          <a:custGeom>
            <a:avLst/>
            <a:gdLst/>
            <a:ahLst/>
            <a:cxnLst/>
            <a:rect l="l" t="t" r="r" b="b"/>
            <a:pathLst>
              <a:path w="856615" h="5632450">
                <a:moveTo>
                  <a:pt x="856361" y="0"/>
                </a:moveTo>
                <a:lnTo>
                  <a:pt x="0" y="0"/>
                </a:lnTo>
                <a:lnTo>
                  <a:pt x="0" y="5632107"/>
                </a:lnTo>
                <a:lnTo>
                  <a:pt x="856361" y="7747"/>
                </a:lnTo>
                <a:lnTo>
                  <a:pt x="856361" y="0"/>
                </a:lnTo>
                <a:close/>
              </a:path>
            </a:pathLst>
          </a:custGeom>
          <a:solidFill>
            <a:srgbClr val="90C224">
              <a:alpha val="85096"/>
            </a:srgbClr>
          </a:solidFill>
        </p:spPr>
        <p:txBody>
          <a:bodyPr wrap="square" lIns="0" tIns="0" rIns="0" bIns="0" rtlCol="0"/>
          <a:lstStyle/>
          <a:p>
            <a:endParaRPr/>
          </a:p>
        </p:txBody>
      </p:sp>
      <p:sp>
        <p:nvSpPr>
          <p:cNvPr id="13" name="object 13"/>
          <p:cNvSpPr txBox="1">
            <a:spLocks noGrp="1"/>
          </p:cNvSpPr>
          <p:nvPr>
            <p:ph type="title"/>
          </p:nvPr>
        </p:nvSpPr>
        <p:spPr>
          <a:xfrm>
            <a:off x="1327785" y="1140028"/>
            <a:ext cx="4618990" cy="1672589"/>
          </a:xfrm>
          <a:prstGeom prst="rect">
            <a:avLst/>
          </a:prstGeom>
        </p:spPr>
        <p:txBody>
          <a:bodyPr vert="horz" wrap="square" lIns="0" tIns="12700" rIns="0" bIns="0" rtlCol="0">
            <a:spAutoFit/>
          </a:bodyPr>
          <a:lstStyle/>
          <a:p>
            <a:pPr marL="12700" marR="5080">
              <a:lnSpc>
                <a:spcPct val="100000"/>
              </a:lnSpc>
              <a:spcBef>
                <a:spcPts val="100"/>
              </a:spcBef>
            </a:pPr>
            <a:r>
              <a:rPr sz="5400" dirty="0"/>
              <a:t>SoI</a:t>
            </a:r>
            <a:r>
              <a:rPr sz="5400" spc="-20" dirty="0"/>
              <a:t> </a:t>
            </a:r>
            <a:r>
              <a:rPr sz="5400" spc="-10" dirty="0"/>
              <a:t>Student Project</a:t>
            </a:r>
            <a:r>
              <a:rPr sz="5400" spc="-350" dirty="0"/>
              <a:t> </a:t>
            </a:r>
            <a:r>
              <a:rPr sz="5400" spc="-20" dirty="0"/>
              <a:t>Review</a:t>
            </a:r>
            <a:endParaRPr sz="5400"/>
          </a:p>
        </p:txBody>
      </p:sp>
      <p:sp>
        <p:nvSpPr>
          <p:cNvPr id="14" name="object 14"/>
          <p:cNvSpPr txBox="1"/>
          <p:nvPr/>
        </p:nvSpPr>
        <p:spPr>
          <a:xfrm>
            <a:off x="1368044" y="3920206"/>
            <a:ext cx="5990590" cy="1630680"/>
          </a:xfrm>
          <a:prstGeom prst="rect">
            <a:avLst/>
          </a:prstGeom>
        </p:spPr>
        <p:txBody>
          <a:bodyPr vert="horz" wrap="square" lIns="0" tIns="138430" rIns="0" bIns="0" rtlCol="0">
            <a:spAutoFit/>
          </a:bodyPr>
          <a:lstStyle/>
          <a:p>
            <a:pPr marL="5080" algn="ctr">
              <a:lnSpc>
                <a:spcPct val="100000"/>
              </a:lnSpc>
              <a:spcBef>
                <a:spcPts val="1090"/>
              </a:spcBef>
              <a:tabLst>
                <a:tab pos="2103120" algn="l"/>
                <a:tab pos="2374265" algn="l"/>
              </a:tabLst>
            </a:pPr>
            <a:r>
              <a:rPr sz="1800" b="1" spc="-35" dirty="0">
                <a:latin typeface="Trebuchet MS"/>
                <a:cs typeface="Trebuchet MS"/>
              </a:rPr>
              <a:t>Team:</a:t>
            </a:r>
            <a:r>
              <a:rPr sz="1800" b="1" spc="-120" dirty="0">
                <a:latin typeface="Trebuchet MS"/>
                <a:cs typeface="Trebuchet MS"/>
              </a:rPr>
              <a:t> </a:t>
            </a:r>
            <a:r>
              <a:rPr sz="1800" b="1" dirty="0">
                <a:latin typeface="Trebuchet MS"/>
                <a:cs typeface="Trebuchet MS"/>
              </a:rPr>
              <a:t>Retro</a:t>
            </a:r>
            <a:r>
              <a:rPr sz="1800" b="1" spc="-60" dirty="0">
                <a:latin typeface="Trebuchet MS"/>
                <a:cs typeface="Trebuchet MS"/>
              </a:rPr>
              <a:t> </a:t>
            </a:r>
            <a:r>
              <a:rPr sz="1800" b="1" spc="-20" dirty="0">
                <a:latin typeface="Trebuchet MS"/>
                <a:cs typeface="Trebuchet MS"/>
              </a:rPr>
              <a:t>Roots</a:t>
            </a:r>
            <a:r>
              <a:rPr sz="1800" b="1" dirty="0">
                <a:latin typeface="Trebuchet MS"/>
                <a:cs typeface="Trebuchet MS"/>
              </a:rPr>
              <a:t>	</a:t>
            </a:r>
            <a:r>
              <a:rPr sz="1800" b="1" spc="-50" dirty="0">
                <a:latin typeface="Trebuchet MS"/>
                <a:cs typeface="Trebuchet MS"/>
              </a:rPr>
              <a:t>|</a:t>
            </a:r>
            <a:r>
              <a:rPr sz="1800" b="1" dirty="0">
                <a:latin typeface="Trebuchet MS"/>
                <a:cs typeface="Trebuchet MS"/>
              </a:rPr>
              <a:t>	Lead:</a:t>
            </a:r>
            <a:r>
              <a:rPr sz="1800" b="1" spc="-90" dirty="0">
                <a:latin typeface="Trebuchet MS"/>
                <a:cs typeface="Trebuchet MS"/>
              </a:rPr>
              <a:t> </a:t>
            </a:r>
            <a:r>
              <a:rPr sz="1800" b="1" spc="-10" dirty="0">
                <a:latin typeface="Trebuchet MS"/>
                <a:cs typeface="Trebuchet MS"/>
              </a:rPr>
              <a:t>Swathmika</a:t>
            </a:r>
            <a:r>
              <a:rPr sz="1800" b="1" spc="-105" dirty="0">
                <a:latin typeface="Trebuchet MS"/>
                <a:cs typeface="Trebuchet MS"/>
              </a:rPr>
              <a:t> </a:t>
            </a:r>
            <a:r>
              <a:rPr sz="1800" b="1" dirty="0">
                <a:latin typeface="Trebuchet MS"/>
                <a:cs typeface="Trebuchet MS"/>
              </a:rPr>
              <a:t>S</a:t>
            </a:r>
            <a:r>
              <a:rPr sz="1800" b="1" spc="-95" dirty="0">
                <a:latin typeface="Trebuchet MS"/>
                <a:cs typeface="Trebuchet MS"/>
              </a:rPr>
              <a:t> </a:t>
            </a:r>
            <a:r>
              <a:rPr sz="1800" b="1" spc="-50" dirty="0">
                <a:latin typeface="Trebuchet MS"/>
                <a:cs typeface="Trebuchet MS"/>
              </a:rPr>
              <a:t>S</a:t>
            </a:r>
            <a:endParaRPr sz="1800">
              <a:latin typeface="Trebuchet MS"/>
              <a:cs typeface="Trebuchet MS"/>
            </a:endParaRPr>
          </a:p>
          <a:p>
            <a:pPr marL="12700" marR="5080" algn="ctr">
              <a:lnSpc>
                <a:spcPts val="3170"/>
              </a:lnSpc>
              <a:spcBef>
                <a:spcPts val="75"/>
              </a:spcBef>
            </a:pPr>
            <a:r>
              <a:rPr sz="1800" b="1" spc="-10" dirty="0">
                <a:latin typeface="Trebuchet MS"/>
                <a:cs typeface="Trebuchet MS"/>
              </a:rPr>
              <a:t>Members:</a:t>
            </a:r>
            <a:r>
              <a:rPr sz="1800" b="1" spc="-120" dirty="0">
                <a:latin typeface="Trebuchet MS"/>
                <a:cs typeface="Trebuchet MS"/>
              </a:rPr>
              <a:t> </a:t>
            </a:r>
            <a:r>
              <a:rPr sz="1800" b="1" spc="-20" dirty="0">
                <a:latin typeface="Trebuchet MS"/>
                <a:cs typeface="Trebuchet MS"/>
              </a:rPr>
              <a:t>Umamageshwari,</a:t>
            </a:r>
            <a:r>
              <a:rPr sz="1800" b="1" spc="-140" dirty="0">
                <a:latin typeface="Trebuchet MS"/>
                <a:cs typeface="Trebuchet MS"/>
              </a:rPr>
              <a:t> </a:t>
            </a:r>
            <a:r>
              <a:rPr sz="1800" b="1" dirty="0">
                <a:latin typeface="Trebuchet MS"/>
                <a:cs typeface="Trebuchet MS"/>
              </a:rPr>
              <a:t>Subhasini,</a:t>
            </a:r>
            <a:r>
              <a:rPr sz="1800" b="1" spc="-20" dirty="0">
                <a:latin typeface="Trebuchet MS"/>
                <a:cs typeface="Trebuchet MS"/>
              </a:rPr>
              <a:t> </a:t>
            </a:r>
            <a:r>
              <a:rPr sz="1800" b="1" dirty="0">
                <a:latin typeface="Trebuchet MS"/>
                <a:cs typeface="Trebuchet MS"/>
              </a:rPr>
              <a:t>Subetha,</a:t>
            </a:r>
            <a:r>
              <a:rPr sz="1800" b="1" spc="-95" dirty="0">
                <a:latin typeface="Trebuchet MS"/>
                <a:cs typeface="Trebuchet MS"/>
              </a:rPr>
              <a:t> </a:t>
            </a:r>
            <a:r>
              <a:rPr sz="1800" b="1" spc="-10" dirty="0">
                <a:latin typeface="Trebuchet MS"/>
                <a:cs typeface="Trebuchet MS"/>
              </a:rPr>
              <a:t>Sarvajit </a:t>
            </a:r>
            <a:r>
              <a:rPr sz="1800" b="1" dirty="0">
                <a:latin typeface="Trebuchet MS"/>
                <a:cs typeface="Trebuchet MS"/>
              </a:rPr>
              <a:t>SoI</a:t>
            </a:r>
            <a:r>
              <a:rPr sz="1800" b="1" spc="-100" dirty="0">
                <a:latin typeface="Trebuchet MS"/>
                <a:cs typeface="Trebuchet MS"/>
              </a:rPr>
              <a:t> </a:t>
            </a:r>
            <a:r>
              <a:rPr sz="1800" b="1" dirty="0">
                <a:latin typeface="Trebuchet MS"/>
                <a:cs typeface="Trebuchet MS"/>
              </a:rPr>
              <a:t>Mentor:</a:t>
            </a:r>
            <a:r>
              <a:rPr sz="1800" b="1" spc="-90" dirty="0">
                <a:latin typeface="Trebuchet MS"/>
                <a:cs typeface="Trebuchet MS"/>
              </a:rPr>
              <a:t> </a:t>
            </a:r>
            <a:r>
              <a:rPr sz="1800" b="1" dirty="0">
                <a:latin typeface="Trebuchet MS"/>
                <a:cs typeface="Trebuchet MS"/>
              </a:rPr>
              <a:t>NandhaKumar</a:t>
            </a:r>
            <a:r>
              <a:rPr sz="1800" b="1" spc="-5" dirty="0">
                <a:latin typeface="Trebuchet MS"/>
                <a:cs typeface="Trebuchet MS"/>
              </a:rPr>
              <a:t> </a:t>
            </a:r>
            <a:r>
              <a:rPr sz="1800" b="1" dirty="0">
                <a:latin typeface="Trebuchet MS"/>
                <a:cs typeface="Trebuchet MS"/>
              </a:rPr>
              <a:t>|</a:t>
            </a:r>
            <a:r>
              <a:rPr sz="1800" b="1" spc="-114" dirty="0">
                <a:latin typeface="Trebuchet MS"/>
                <a:cs typeface="Trebuchet MS"/>
              </a:rPr>
              <a:t> </a:t>
            </a:r>
            <a:r>
              <a:rPr sz="1800" b="1" dirty="0">
                <a:latin typeface="Trebuchet MS"/>
                <a:cs typeface="Trebuchet MS"/>
              </a:rPr>
              <a:t>SoI</a:t>
            </a:r>
            <a:r>
              <a:rPr sz="1800" b="1" spc="-85" dirty="0">
                <a:latin typeface="Trebuchet MS"/>
                <a:cs typeface="Trebuchet MS"/>
              </a:rPr>
              <a:t> </a:t>
            </a:r>
            <a:r>
              <a:rPr sz="1800" b="1" spc="-10" dirty="0">
                <a:latin typeface="Trebuchet MS"/>
                <a:cs typeface="Trebuchet MS"/>
              </a:rPr>
              <a:t>Vertical:</a:t>
            </a:r>
            <a:r>
              <a:rPr sz="1800" b="1" spc="-125" dirty="0">
                <a:latin typeface="Trebuchet MS"/>
                <a:cs typeface="Trebuchet MS"/>
              </a:rPr>
              <a:t> </a:t>
            </a:r>
            <a:r>
              <a:rPr sz="1800" b="1" dirty="0">
                <a:latin typeface="Trebuchet MS"/>
                <a:cs typeface="Trebuchet MS"/>
              </a:rPr>
              <a:t>CD</a:t>
            </a:r>
            <a:r>
              <a:rPr sz="1800" b="1" spc="-110" dirty="0">
                <a:latin typeface="Trebuchet MS"/>
                <a:cs typeface="Trebuchet MS"/>
              </a:rPr>
              <a:t> </a:t>
            </a:r>
            <a:r>
              <a:rPr sz="1800" b="1" spc="-50" dirty="0">
                <a:latin typeface="Trebuchet MS"/>
                <a:cs typeface="Trebuchet MS"/>
              </a:rPr>
              <a:t>| </a:t>
            </a:r>
            <a:r>
              <a:rPr sz="1800" b="1" spc="-10" dirty="0">
                <a:latin typeface="Trebuchet MS"/>
                <a:cs typeface="Trebuchet MS"/>
              </a:rPr>
              <a:t>Cohort/Batch:</a:t>
            </a:r>
            <a:r>
              <a:rPr sz="1800" b="1" spc="-20" dirty="0">
                <a:latin typeface="Trebuchet MS"/>
                <a:cs typeface="Trebuchet MS"/>
              </a:rPr>
              <a:t> </a:t>
            </a:r>
            <a:r>
              <a:rPr sz="1800" b="1" dirty="0">
                <a:latin typeface="Trebuchet MS"/>
                <a:cs typeface="Trebuchet MS"/>
              </a:rPr>
              <a:t>2024</a:t>
            </a:r>
            <a:r>
              <a:rPr sz="1800" b="1" spc="-125" dirty="0">
                <a:latin typeface="Trebuchet MS"/>
                <a:cs typeface="Trebuchet MS"/>
              </a:rPr>
              <a:t> </a:t>
            </a:r>
            <a:r>
              <a:rPr sz="1800" b="1" dirty="0">
                <a:latin typeface="Trebuchet MS"/>
                <a:cs typeface="Trebuchet MS"/>
              </a:rPr>
              <a:t>-</a:t>
            </a:r>
            <a:r>
              <a:rPr sz="1800" b="1" spc="-75" dirty="0">
                <a:latin typeface="Trebuchet MS"/>
                <a:cs typeface="Trebuchet MS"/>
              </a:rPr>
              <a:t> </a:t>
            </a:r>
            <a:r>
              <a:rPr sz="1800" b="1" spc="-25" dirty="0">
                <a:latin typeface="Trebuchet MS"/>
                <a:cs typeface="Trebuchet MS"/>
              </a:rPr>
              <a:t>28</a:t>
            </a:r>
            <a:endParaRPr sz="1800">
              <a:latin typeface="Trebuchet MS"/>
              <a:cs typeface="Trebuchet MS"/>
            </a:endParaRPr>
          </a:p>
        </p:txBody>
      </p:sp>
      <p:sp>
        <p:nvSpPr>
          <p:cNvPr id="15" name="object 15"/>
          <p:cNvSpPr txBox="1"/>
          <p:nvPr/>
        </p:nvSpPr>
        <p:spPr>
          <a:xfrm>
            <a:off x="1062329" y="3079825"/>
            <a:ext cx="6354445" cy="875881"/>
          </a:xfrm>
          <a:prstGeom prst="rect">
            <a:avLst/>
          </a:prstGeom>
        </p:spPr>
        <p:txBody>
          <a:bodyPr vert="horz" wrap="square" lIns="0" tIns="13970" rIns="0" bIns="0" rtlCol="0">
            <a:spAutoFit/>
          </a:bodyPr>
          <a:lstStyle/>
          <a:p>
            <a:pPr marL="12700">
              <a:lnSpc>
                <a:spcPct val="100000"/>
              </a:lnSpc>
              <a:spcBef>
                <a:spcPts val="110"/>
              </a:spcBef>
            </a:pPr>
            <a:r>
              <a:rPr lang="en-US" sz="2800" dirty="0">
                <a:solidFill>
                  <a:srgbClr val="92D050"/>
                </a:solidFill>
                <a:latin typeface="Trebuchet MS"/>
                <a:cs typeface="Trebuchet MS"/>
              </a:rPr>
              <a:t>Telemedicine Access for Rural Healthcare – Nabha</a:t>
            </a:r>
            <a:endParaRPr sz="2800" dirty="0">
              <a:solidFill>
                <a:srgbClr val="92D050"/>
              </a:solidFill>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marR="5080">
              <a:lnSpc>
                <a:spcPct val="100000"/>
              </a:lnSpc>
              <a:spcBef>
                <a:spcPts val="100"/>
              </a:spcBef>
            </a:pPr>
            <a:r>
              <a:rPr dirty="0"/>
              <a:t>Problem</a:t>
            </a:r>
            <a:r>
              <a:rPr spc="-90" dirty="0"/>
              <a:t> </a:t>
            </a:r>
            <a:r>
              <a:rPr dirty="0"/>
              <a:t>&amp;</a:t>
            </a:r>
            <a:r>
              <a:rPr spc="-130" dirty="0"/>
              <a:t> </a:t>
            </a:r>
            <a:r>
              <a:rPr dirty="0"/>
              <a:t>End</a:t>
            </a:r>
            <a:r>
              <a:rPr spc="-120" dirty="0"/>
              <a:t> </a:t>
            </a:r>
            <a:r>
              <a:rPr spc="-20" dirty="0"/>
              <a:t>User </a:t>
            </a:r>
            <a:r>
              <a:rPr spc="-10" dirty="0"/>
              <a:t>Identification</a:t>
            </a:r>
          </a:p>
        </p:txBody>
      </p:sp>
      <p:sp>
        <p:nvSpPr>
          <p:cNvPr id="3" name="object 3"/>
          <p:cNvSpPr txBox="1"/>
          <p:nvPr/>
        </p:nvSpPr>
        <p:spPr>
          <a:xfrm>
            <a:off x="838200" y="1981200"/>
            <a:ext cx="6472427" cy="5028300"/>
          </a:xfrm>
          <a:prstGeom prst="rect">
            <a:avLst/>
          </a:prstGeom>
        </p:spPr>
        <p:txBody>
          <a:bodyPr vert="horz" wrap="square" lIns="0" tIns="11430" rIns="0" bIns="0" rtlCol="0">
            <a:spAutoFit/>
          </a:bodyPr>
          <a:lstStyle/>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End User:</a:t>
            </a:r>
            <a:r>
              <a:rPr lang="en-US" dirty="0">
                <a:latin typeface="Times New Roman" panose="02020603050405020304" pitchFamily="18" charset="0"/>
                <a:cs typeface="Times New Roman" panose="02020603050405020304" pitchFamily="18" charset="0"/>
              </a:rPr>
              <a:t> Daily-wage laborers &amp; farmers in Nabha's 173 villages. Low digital literacy.</a:t>
            </a:r>
          </a:p>
          <a:p>
            <a:pPr marL="285750" indent="-28575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Problem Trigger:</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Need for a medical consultation. Traveling to the understaffed Nabha Civil Hospital risks lost wages and an unsuccessful visit</a:t>
            </a:r>
          </a:p>
          <a:p>
            <a:r>
              <a:rPr lang="en-US"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Evidence:</a:t>
            </a:r>
            <a:endParaRPr lang="en-US" dirty="0">
              <a:latin typeface="Times New Roman" panose="02020603050405020304" pitchFamily="18" charset="0"/>
              <a:cs typeface="Times New Roman" panose="02020603050405020304" pitchFamily="18" charset="0"/>
            </a:endParaRPr>
          </a:p>
          <a:p>
            <a:pPr marL="2857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Nabha Civil Hospital: 11/23 doctors (&lt;50% staffed).</a:t>
            </a:r>
          </a:p>
          <a:p>
            <a:pPr marL="2857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31% of rural Punjab households have internet.</a:t>
            </a:r>
          </a:p>
          <a:p>
            <a:pPr marL="2857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User interviews confirm travel is often wasted.</a:t>
            </a:r>
          </a:p>
          <a:p>
            <a:pPr marL="2857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Success Metrics:</a:t>
            </a:r>
            <a:endParaRPr lang="en-US" dirty="0">
              <a:latin typeface="Times New Roman" panose="02020603050405020304" pitchFamily="18" charset="0"/>
              <a:cs typeface="Times New Roman" panose="02020603050405020304" pitchFamily="18" charset="0"/>
            </a:endParaRPr>
          </a:p>
          <a:p>
            <a:pPr marL="2857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50% reduction in patient travel time/cost.</a:t>
            </a:r>
          </a:p>
          <a:p>
            <a:pPr marL="2857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70% successful first-attempt consultations.</a:t>
            </a:r>
          </a:p>
          <a:p>
            <a:pPr marL="2857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90% user satisfaction in low-bandwidth tests.</a:t>
            </a:r>
          </a:p>
          <a:p>
            <a:br>
              <a:rPr lang="en-US" dirty="0"/>
            </a:br>
            <a:endParaRPr sz="2000" dirty="0">
              <a:latin typeface="Trebuchet MS"/>
              <a:cs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Problem</a:t>
            </a:r>
            <a:r>
              <a:rPr spc="-235" dirty="0"/>
              <a:t> </a:t>
            </a:r>
            <a:r>
              <a:rPr spc="-10" dirty="0"/>
              <a:t>Description</a:t>
            </a:r>
          </a:p>
        </p:txBody>
      </p:sp>
      <p:sp>
        <p:nvSpPr>
          <p:cNvPr id="3" name="object 3"/>
          <p:cNvSpPr txBox="1"/>
          <p:nvPr/>
        </p:nvSpPr>
        <p:spPr>
          <a:xfrm>
            <a:off x="688340" y="1889423"/>
            <a:ext cx="7620000" cy="1953420"/>
          </a:xfrm>
          <a:prstGeom prst="rect">
            <a:avLst/>
          </a:prstGeom>
        </p:spPr>
        <p:txBody>
          <a:bodyPr vert="horz" wrap="square" lIns="0" tIns="10795" rIns="0" bIns="0" rtlCol="0">
            <a:spAutoFit/>
          </a:bodyPr>
          <a:lstStyle/>
          <a:p>
            <a:pPr marL="356870" marR="5080" indent="-344805" algn="just">
              <a:lnSpc>
                <a:spcPct val="100600"/>
              </a:lnSpc>
              <a:spcBef>
                <a:spcPts val="85"/>
              </a:spcBef>
            </a:pPr>
            <a:r>
              <a:rPr dirty="0">
                <a:solidFill>
                  <a:srgbClr val="90C224"/>
                </a:solidFill>
                <a:latin typeface="Lucida Sans Unicode"/>
                <a:cs typeface="Lucida Sans Unicode"/>
              </a:rPr>
              <a:t>▶</a:t>
            </a:r>
            <a:r>
              <a:rPr lang="en-US" dirty="0">
                <a:solidFill>
                  <a:srgbClr val="90C224"/>
                </a:solidFill>
                <a:latin typeface="Lucida Sans Unicode"/>
                <a:cs typeface="Lucida Sans Unicode"/>
              </a:rPr>
              <a:t>   </a:t>
            </a:r>
            <a:r>
              <a:rPr lang="en-US" dirty="0">
                <a:latin typeface="Times New Roman" panose="02020603050405020304" pitchFamily="18" charset="0"/>
                <a:cs typeface="Times New Roman" panose="02020603050405020304" pitchFamily="18" charset="0"/>
              </a:rPr>
              <a:t>Rural residents of Nabha, Punjab, lack reliable healthcare access. The primary hospital is critically understaffed, serving 173 villages with only 11 doctors. Patients undertake long, costly journeys, only to often find specialists unavailable or medicines out of stock. This results in delayed treatment, worsened health, and financial loss for daily-wage earners. Poor internet connectivity further limits digital solutions.</a:t>
            </a:r>
            <a:br>
              <a:rPr lang="en-US" dirty="0">
                <a:latin typeface="Times New Roman" panose="02020603050405020304" pitchFamily="18" charset="0"/>
                <a:cs typeface="Times New Roman" panose="02020603050405020304" pitchFamily="18" charset="0"/>
              </a:rPr>
            </a:b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00A94-387E-96B0-5AF1-75F260D9631C}"/>
              </a:ext>
            </a:extLst>
          </p:cNvPr>
          <p:cNvSpPr>
            <a:spLocks noGrp="1"/>
          </p:cNvSpPr>
          <p:nvPr>
            <p:ph type="title"/>
          </p:nvPr>
        </p:nvSpPr>
        <p:spPr>
          <a:xfrm>
            <a:off x="688340" y="619505"/>
            <a:ext cx="4251325" cy="553998"/>
          </a:xfrm>
        </p:spPr>
        <p:txBody>
          <a:bodyPr/>
          <a:lstStyle/>
          <a:p>
            <a:r>
              <a:rPr lang="en-US" dirty="0"/>
              <a:t>Proposed Solution</a:t>
            </a:r>
            <a:endParaRPr lang="en-IN" dirty="0"/>
          </a:p>
        </p:txBody>
      </p:sp>
      <p:sp>
        <p:nvSpPr>
          <p:cNvPr id="3" name="Text Placeholder 2">
            <a:extLst>
              <a:ext uri="{FF2B5EF4-FFF2-40B4-BE49-F238E27FC236}">
                <a16:creationId xmlns:a16="http://schemas.microsoft.com/office/drawing/2014/main" id="{00E6FBAA-3E11-37F5-29A8-400FD7F47E30}"/>
              </a:ext>
            </a:extLst>
          </p:cNvPr>
          <p:cNvSpPr>
            <a:spLocks noGrp="1"/>
          </p:cNvSpPr>
          <p:nvPr>
            <p:ph type="body" idx="1"/>
          </p:nvPr>
        </p:nvSpPr>
        <p:spPr>
          <a:xfrm>
            <a:off x="571500" y="1600200"/>
            <a:ext cx="8001000" cy="4154984"/>
          </a:xfrm>
        </p:spPr>
        <p:txBody>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Connects rural patients with certified doctors via secure video/audio/chat</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Enables appointment scheduling and digital prescriptions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Stores patient data in cloud-based EMR for easy access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Includes AI Symptom Checker for early diagnosis &amp; triage</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Integrates pharmacy &amp; preventive health modules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Supports offline mode for low-connectivity rural areas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Powered by AWS Cloud, React Native/React.js, Node.js/Django REST, and Python ML</a:t>
            </a:r>
          </a:p>
          <a:p>
            <a:endParaRPr lang="en-IN" dirty="0"/>
          </a:p>
        </p:txBody>
      </p:sp>
    </p:spTree>
    <p:extLst>
      <p:ext uri="{BB962C8B-B14F-4D97-AF65-F5344CB8AC3E}">
        <p14:creationId xmlns:p14="http://schemas.microsoft.com/office/powerpoint/2010/main" val="3688317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619505"/>
            <a:ext cx="5885815" cy="574040"/>
          </a:xfrm>
          <a:prstGeom prst="rect">
            <a:avLst/>
          </a:prstGeom>
        </p:spPr>
        <p:txBody>
          <a:bodyPr vert="horz" wrap="square" lIns="0" tIns="12700" rIns="0" bIns="0" rtlCol="0">
            <a:spAutoFit/>
          </a:bodyPr>
          <a:lstStyle/>
          <a:p>
            <a:pPr marL="12700">
              <a:lnSpc>
                <a:spcPct val="100000"/>
              </a:lnSpc>
              <a:spcBef>
                <a:spcPts val="100"/>
              </a:spcBef>
            </a:pPr>
            <a:r>
              <a:rPr dirty="0"/>
              <a:t>Literature</a:t>
            </a:r>
            <a:r>
              <a:rPr spc="-120" dirty="0"/>
              <a:t> </a:t>
            </a:r>
            <a:r>
              <a:rPr dirty="0"/>
              <a:t>Survey</a:t>
            </a:r>
            <a:r>
              <a:rPr spc="-80" dirty="0"/>
              <a:t> </a:t>
            </a:r>
            <a:r>
              <a:rPr spc="-10" dirty="0"/>
              <a:t>(Research)</a:t>
            </a:r>
          </a:p>
        </p:txBody>
      </p:sp>
      <p:graphicFrame>
        <p:nvGraphicFramePr>
          <p:cNvPr id="3" name="object 3"/>
          <p:cNvGraphicFramePr>
            <a:graphicFrameLocks noGrp="1"/>
          </p:cNvGraphicFramePr>
          <p:nvPr>
            <p:extLst>
              <p:ext uri="{D42A27DB-BD31-4B8C-83A1-F6EECF244321}">
                <p14:modId xmlns:p14="http://schemas.microsoft.com/office/powerpoint/2010/main" val="1400850652"/>
              </p:ext>
            </p:extLst>
          </p:nvPr>
        </p:nvGraphicFramePr>
        <p:xfrm>
          <a:off x="444500" y="1450339"/>
          <a:ext cx="8229600" cy="5221605"/>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712470">
                <a:tc>
                  <a:txBody>
                    <a:bodyPr/>
                    <a:lstStyle/>
                    <a:p>
                      <a:pPr marL="91440" marR="849630">
                        <a:lnSpc>
                          <a:spcPct val="100000"/>
                        </a:lnSpc>
                        <a:spcBef>
                          <a:spcPts val="275"/>
                        </a:spcBef>
                      </a:pPr>
                      <a:r>
                        <a:rPr sz="1800" b="1" spc="-10" dirty="0">
                          <a:solidFill>
                            <a:srgbClr val="FFFFFF"/>
                          </a:solidFill>
                          <a:latin typeface="Times New Roman" panose="02020603050405020304" pitchFamily="18" charset="0"/>
                          <a:cs typeface="Times New Roman" panose="02020603050405020304" pitchFamily="18" charset="0"/>
                        </a:rPr>
                        <a:t>Source </a:t>
                      </a:r>
                      <a:r>
                        <a:rPr sz="1800" b="1" spc="-30" dirty="0">
                          <a:solidFill>
                            <a:srgbClr val="FFFFFF"/>
                          </a:solidFill>
                          <a:latin typeface="Times New Roman" panose="02020603050405020304" pitchFamily="18" charset="0"/>
                          <a:cs typeface="Times New Roman" panose="02020603050405020304" pitchFamily="18" charset="0"/>
                        </a:rPr>
                        <a:t>(APA/IEEE)</a:t>
                      </a:r>
                      <a:endParaRPr sz="1800">
                        <a:latin typeface="Times New Roman" panose="02020603050405020304" pitchFamily="18" charset="0"/>
                        <a:cs typeface="Times New Roman" panose="02020603050405020304" pitchFamily="18" charset="0"/>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4"/>
                    </a:solidFill>
                  </a:tcPr>
                </a:tc>
                <a:tc>
                  <a:txBody>
                    <a:bodyPr/>
                    <a:lstStyle/>
                    <a:p>
                      <a:pPr marL="92075">
                        <a:lnSpc>
                          <a:spcPct val="100000"/>
                        </a:lnSpc>
                        <a:spcBef>
                          <a:spcPts val="275"/>
                        </a:spcBef>
                      </a:pPr>
                      <a:r>
                        <a:rPr sz="1800" b="1" spc="-20" dirty="0">
                          <a:solidFill>
                            <a:srgbClr val="FFFFFF"/>
                          </a:solidFill>
                          <a:latin typeface="Times New Roman" panose="02020603050405020304" pitchFamily="18" charset="0"/>
                          <a:cs typeface="Times New Roman" panose="02020603050405020304" pitchFamily="18" charset="0"/>
                        </a:rPr>
                        <a:t>Year</a:t>
                      </a:r>
                      <a:endParaRPr sz="1800">
                        <a:latin typeface="Times New Roman" panose="02020603050405020304" pitchFamily="18" charset="0"/>
                        <a:cs typeface="Times New Roman" panose="02020603050405020304" pitchFamily="18" charset="0"/>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4"/>
                    </a:solidFill>
                  </a:tcPr>
                </a:tc>
                <a:tc>
                  <a:txBody>
                    <a:bodyPr/>
                    <a:lstStyle/>
                    <a:p>
                      <a:pPr marL="92710" marR="638175">
                        <a:lnSpc>
                          <a:spcPct val="100000"/>
                        </a:lnSpc>
                        <a:spcBef>
                          <a:spcPts val="275"/>
                        </a:spcBef>
                      </a:pPr>
                      <a:r>
                        <a:rPr sz="1800" b="1" dirty="0">
                          <a:solidFill>
                            <a:srgbClr val="FFFFFF"/>
                          </a:solidFill>
                          <a:latin typeface="Times New Roman" panose="02020603050405020304" pitchFamily="18" charset="0"/>
                          <a:cs typeface="Times New Roman" panose="02020603050405020304" pitchFamily="18" charset="0"/>
                        </a:rPr>
                        <a:t>Key</a:t>
                      </a:r>
                      <a:r>
                        <a:rPr sz="1800" b="1" spc="-85" dirty="0">
                          <a:solidFill>
                            <a:srgbClr val="FFFFFF"/>
                          </a:solidFill>
                          <a:latin typeface="Times New Roman" panose="02020603050405020304" pitchFamily="18" charset="0"/>
                          <a:cs typeface="Times New Roman" panose="02020603050405020304" pitchFamily="18" charset="0"/>
                        </a:rPr>
                        <a:t> </a:t>
                      </a:r>
                      <a:r>
                        <a:rPr sz="1800" b="1" dirty="0">
                          <a:solidFill>
                            <a:srgbClr val="FFFFFF"/>
                          </a:solidFill>
                          <a:latin typeface="Times New Roman" panose="02020603050405020304" pitchFamily="18" charset="0"/>
                          <a:cs typeface="Times New Roman" panose="02020603050405020304" pitchFamily="18" charset="0"/>
                        </a:rPr>
                        <a:t>Insight</a:t>
                      </a:r>
                      <a:r>
                        <a:rPr sz="1800" b="1" spc="-50" dirty="0">
                          <a:solidFill>
                            <a:srgbClr val="FFFFFF"/>
                          </a:solidFill>
                          <a:latin typeface="Times New Roman" panose="02020603050405020304" pitchFamily="18" charset="0"/>
                          <a:cs typeface="Times New Roman" panose="02020603050405020304" pitchFamily="18" charset="0"/>
                        </a:rPr>
                        <a:t> / </a:t>
                      </a:r>
                      <a:r>
                        <a:rPr sz="1800" b="1" spc="-10" dirty="0">
                          <a:solidFill>
                            <a:srgbClr val="FFFFFF"/>
                          </a:solidFill>
                          <a:latin typeface="Times New Roman" panose="02020603050405020304" pitchFamily="18" charset="0"/>
                          <a:cs typeface="Times New Roman" panose="02020603050405020304" pitchFamily="18" charset="0"/>
                        </a:rPr>
                        <a:t>Method</a:t>
                      </a:r>
                      <a:endParaRPr sz="1800">
                        <a:latin typeface="Times New Roman" panose="02020603050405020304" pitchFamily="18" charset="0"/>
                        <a:cs typeface="Times New Roman" panose="02020603050405020304" pitchFamily="18" charset="0"/>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4"/>
                    </a:solidFill>
                  </a:tcPr>
                </a:tc>
                <a:tc>
                  <a:txBody>
                    <a:bodyPr/>
                    <a:lstStyle/>
                    <a:p>
                      <a:pPr marL="96520" marR="267970">
                        <a:lnSpc>
                          <a:spcPct val="100000"/>
                        </a:lnSpc>
                        <a:spcBef>
                          <a:spcPts val="275"/>
                        </a:spcBef>
                      </a:pPr>
                      <a:r>
                        <a:rPr sz="1800" b="1" dirty="0">
                          <a:solidFill>
                            <a:srgbClr val="FFFFFF"/>
                          </a:solidFill>
                          <a:latin typeface="Times New Roman" panose="02020603050405020304" pitchFamily="18" charset="0"/>
                          <a:cs typeface="Times New Roman" panose="02020603050405020304" pitchFamily="18" charset="0"/>
                        </a:rPr>
                        <a:t>Gap</a:t>
                      </a:r>
                      <a:r>
                        <a:rPr sz="1800" b="1" spc="-80" dirty="0">
                          <a:solidFill>
                            <a:srgbClr val="FFFFFF"/>
                          </a:solidFill>
                          <a:latin typeface="Times New Roman" panose="02020603050405020304" pitchFamily="18" charset="0"/>
                          <a:cs typeface="Times New Roman" panose="02020603050405020304" pitchFamily="18" charset="0"/>
                        </a:rPr>
                        <a:t> </a:t>
                      </a:r>
                      <a:r>
                        <a:rPr sz="1800" b="1" spc="-10" dirty="0">
                          <a:solidFill>
                            <a:srgbClr val="FFFFFF"/>
                          </a:solidFill>
                          <a:latin typeface="Times New Roman" panose="02020603050405020304" pitchFamily="18" charset="0"/>
                          <a:cs typeface="Times New Roman" panose="02020603050405020304" pitchFamily="18" charset="0"/>
                        </a:rPr>
                        <a:t>Relevant</a:t>
                      </a:r>
                      <a:r>
                        <a:rPr sz="1800" b="1" spc="-105" dirty="0">
                          <a:solidFill>
                            <a:srgbClr val="FFFFFF"/>
                          </a:solidFill>
                          <a:latin typeface="Times New Roman" panose="02020603050405020304" pitchFamily="18" charset="0"/>
                          <a:cs typeface="Times New Roman" panose="02020603050405020304" pitchFamily="18" charset="0"/>
                        </a:rPr>
                        <a:t> </a:t>
                      </a:r>
                      <a:r>
                        <a:rPr sz="1800" b="1" spc="-25" dirty="0">
                          <a:solidFill>
                            <a:srgbClr val="FFFFFF"/>
                          </a:solidFill>
                          <a:latin typeface="Times New Roman" panose="02020603050405020304" pitchFamily="18" charset="0"/>
                          <a:cs typeface="Times New Roman" panose="02020603050405020304" pitchFamily="18" charset="0"/>
                        </a:rPr>
                        <a:t>to </a:t>
                      </a:r>
                      <a:r>
                        <a:rPr sz="1800" b="1" dirty="0">
                          <a:solidFill>
                            <a:srgbClr val="FFFFFF"/>
                          </a:solidFill>
                          <a:latin typeface="Times New Roman" panose="02020603050405020304" pitchFamily="18" charset="0"/>
                          <a:cs typeface="Times New Roman" panose="02020603050405020304" pitchFamily="18" charset="0"/>
                        </a:rPr>
                        <a:t>Our</a:t>
                      </a:r>
                      <a:r>
                        <a:rPr sz="1800" b="1" spc="-30" dirty="0">
                          <a:solidFill>
                            <a:srgbClr val="FFFFFF"/>
                          </a:solidFill>
                          <a:latin typeface="Times New Roman" panose="02020603050405020304" pitchFamily="18" charset="0"/>
                          <a:cs typeface="Times New Roman" panose="02020603050405020304" pitchFamily="18" charset="0"/>
                        </a:rPr>
                        <a:t> </a:t>
                      </a:r>
                      <a:r>
                        <a:rPr sz="1800" b="1" spc="-10" dirty="0">
                          <a:solidFill>
                            <a:srgbClr val="FFFFFF"/>
                          </a:solidFill>
                          <a:latin typeface="Times New Roman" panose="02020603050405020304" pitchFamily="18" charset="0"/>
                          <a:cs typeface="Times New Roman" panose="02020603050405020304" pitchFamily="18" charset="0"/>
                        </a:rPr>
                        <a:t>Problem</a:t>
                      </a:r>
                      <a:endParaRPr sz="1800">
                        <a:latin typeface="Times New Roman" panose="02020603050405020304" pitchFamily="18" charset="0"/>
                        <a:cs typeface="Times New Roman" panose="02020603050405020304" pitchFamily="18" charset="0"/>
                      </a:endParaRPr>
                    </a:p>
                  </a:txBody>
                  <a:tcPr marL="0" marR="0" marT="3492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4"/>
                    </a:solidFill>
                  </a:tcPr>
                </a:tc>
                <a:extLst>
                  <a:ext uri="{0D108BD9-81ED-4DB2-BD59-A6C34878D82A}">
                    <a16:rowId xmlns:a16="http://schemas.microsoft.com/office/drawing/2014/main" val="10000"/>
                  </a:ext>
                </a:extLst>
              </a:tr>
              <a:tr h="814706">
                <a:tc>
                  <a:txBody>
                    <a:bodyPr/>
                    <a:lstStyle/>
                    <a:p>
                      <a:pPr algn="ctr">
                        <a:lnSpc>
                          <a:spcPct val="100000"/>
                        </a:lnSpc>
                        <a:spcBef>
                          <a:spcPts val="280"/>
                        </a:spcBef>
                      </a:pPr>
                      <a:r>
                        <a:rPr lang="en-IN" dirty="0">
                          <a:latin typeface="Times New Roman" panose="02020603050405020304" pitchFamily="18" charset="0"/>
                          <a:cs typeface="Times New Roman" panose="02020603050405020304" pitchFamily="18" charset="0"/>
                        </a:rPr>
                        <a:t>WHO – Digital Health Strategy</a:t>
                      </a:r>
                      <a:endParaRPr sz="1800" dirty="0">
                        <a:latin typeface="Times New Roman" panose="02020603050405020304" pitchFamily="18" charset="0"/>
                        <a:cs typeface="Times New Roman" panose="02020603050405020304" pitchFamily="18" charset="0"/>
                      </a:endParaRPr>
                    </a:p>
                  </a:txBody>
                  <a:tcPr marL="0" marR="0" marT="355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R="774065" algn="r">
                        <a:lnSpc>
                          <a:spcPct val="100000"/>
                        </a:lnSpc>
                        <a:spcBef>
                          <a:spcPts val="280"/>
                        </a:spcBef>
                      </a:pPr>
                      <a:r>
                        <a:rPr lang="en-IN" dirty="0">
                          <a:latin typeface="Times New Roman" panose="02020603050405020304" pitchFamily="18" charset="0"/>
                          <a:cs typeface="Times New Roman" panose="02020603050405020304" pitchFamily="18" charset="0"/>
                        </a:rPr>
                        <a:t>2021</a:t>
                      </a:r>
                      <a:endParaRPr sz="1800" dirty="0">
                        <a:latin typeface="Times New Roman" panose="02020603050405020304" pitchFamily="18" charset="0"/>
                        <a:cs typeface="Times New Roman" panose="02020603050405020304" pitchFamily="18" charset="0"/>
                      </a:endParaRPr>
                    </a:p>
                  </a:txBody>
                  <a:tcPr marL="0" marR="0" marT="355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2710" marR="168275">
                        <a:lnSpc>
                          <a:spcPct val="100000"/>
                        </a:lnSpc>
                        <a:spcBef>
                          <a:spcPts val="280"/>
                        </a:spcBef>
                      </a:pPr>
                      <a:r>
                        <a:rPr lang="en-US" dirty="0">
                          <a:latin typeface="Times New Roman" panose="02020603050405020304" pitchFamily="18" charset="0"/>
                          <a:cs typeface="Times New Roman" panose="02020603050405020304" pitchFamily="18" charset="0"/>
                        </a:rPr>
                        <a:t>Emphasizes telemedicine for underserved areas</a:t>
                      </a:r>
                      <a:endParaRPr sz="1800" dirty="0">
                        <a:latin typeface="Times New Roman" panose="02020603050405020304" pitchFamily="18" charset="0"/>
                        <a:cs typeface="Times New Roman" panose="02020603050405020304" pitchFamily="18" charset="0"/>
                      </a:endParaRPr>
                    </a:p>
                  </a:txBody>
                  <a:tcPr marL="0" marR="0" marT="355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6520" marR="132715">
                        <a:lnSpc>
                          <a:spcPct val="100000"/>
                        </a:lnSpc>
                        <a:spcBef>
                          <a:spcPts val="280"/>
                        </a:spcBef>
                      </a:pPr>
                      <a:r>
                        <a:rPr lang="en-US" dirty="0">
                          <a:latin typeface="Times New Roman" panose="02020603050405020304" pitchFamily="18" charset="0"/>
                          <a:cs typeface="Times New Roman" panose="02020603050405020304" pitchFamily="18" charset="0"/>
                        </a:rPr>
                        <a:t>No localized solution for rural India</a:t>
                      </a:r>
                      <a:r>
                        <a:rPr sz="1800" spc="-10" dirty="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txBody>
                  <a:tcPr marL="0" marR="0" marT="355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extLst>
                  <a:ext uri="{0D108BD9-81ED-4DB2-BD59-A6C34878D82A}">
                    <a16:rowId xmlns:a16="http://schemas.microsoft.com/office/drawing/2014/main" val="10001"/>
                  </a:ext>
                </a:extLst>
              </a:tr>
              <a:tr h="712470">
                <a:tc>
                  <a:txBody>
                    <a:bodyPr/>
                    <a:lstStyle/>
                    <a:p>
                      <a:pPr marL="2540" algn="ctr">
                        <a:lnSpc>
                          <a:spcPct val="100000"/>
                        </a:lnSpc>
                        <a:spcBef>
                          <a:spcPts val="280"/>
                        </a:spcBef>
                      </a:pPr>
                      <a:r>
                        <a:rPr lang="en-IN" dirty="0">
                          <a:latin typeface="Times New Roman" panose="02020603050405020304" pitchFamily="18" charset="0"/>
                          <a:cs typeface="Times New Roman" panose="02020603050405020304" pitchFamily="18" charset="0"/>
                        </a:rPr>
                        <a:t>Journal of Telemedicine &amp; e-Health</a:t>
                      </a:r>
                      <a:endParaRPr sz="1800" dirty="0">
                        <a:latin typeface="Times New Roman" panose="02020603050405020304" pitchFamily="18" charset="0"/>
                        <a:cs typeface="Times New Roman" panose="02020603050405020304" pitchFamily="18" charset="0"/>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R="774065" algn="r">
                        <a:lnSpc>
                          <a:spcPct val="100000"/>
                        </a:lnSpc>
                        <a:spcBef>
                          <a:spcPts val="280"/>
                        </a:spcBef>
                      </a:pPr>
                      <a:r>
                        <a:rPr lang="en-IN" dirty="0">
                          <a:latin typeface="Times New Roman" panose="02020603050405020304" pitchFamily="18" charset="0"/>
                          <a:cs typeface="Times New Roman" panose="02020603050405020304" pitchFamily="18" charset="0"/>
                        </a:rPr>
                        <a:t>2022</a:t>
                      </a:r>
                      <a:endParaRPr sz="1800" dirty="0">
                        <a:latin typeface="Times New Roman" panose="02020603050405020304" pitchFamily="18" charset="0"/>
                        <a:cs typeface="Times New Roman" panose="02020603050405020304" pitchFamily="18" charset="0"/>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2710">
                        <a:lnSpc>
                          <a:spcPct val="100000"/>
                        </a:lnSpc>
                        <a:spcBef>
                          <a:spcPts val="280"/>
                        </a:spcBef>
                      </a:pPr>
                      <a:r>
                        <a:rPr lang="en-IN" dirty="0">
                          <a:latin typeface="Times New Roman" panose="02020603050405020304" pitchFamily="18" charset="0"/>
                          <a:cs typeface="Times New Roman" panose="02020603050405020304" pitchFamily="18" charset="0"/>
                        </a:rPr>
                        <a:t>AI improves diagnosis in remote consultations</a:t>
                      </a:r>
                      <a:endParaRPr sz="1800" dirty="0">
                        <a:latin typeface="Times New Roman" panose="02020603050405020304" pitchFamily="18" charset="0"/>
                        <a:cs typeface="Times New Roman" panose="02020603050405020304" pitchFamily="18" charset="0"/>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6520">
                        <a:lnSpc>
                          <a:spcPct val="100000"/>
                        </a:lnSpc>
                        <a:spcBef>
                          <a:spcPts val="280"/>
                        </a:spcBef>
                      </a:pPr>
                      <a:r>
                        <a:rPr lang="en-US" dirty="0">
                          <a:latin typeface="Times New Roman" panose="02020603050405020304" pitchFamily="18" charset="0"/>
                          <a:cs typeface="Times New Roman" panose="02020603050405020304" pitchFamily="18" charset="0"/>
                        </a:rPr>
                        <a:t>Limited real-time triage in rural setups</a:t>
                      </a:r>
                      <a:endParaRPr sz="1800" dirty="0">
                        <a:latin typeface="Times New Roman" panose="02020603050405020304" pitchFamily="18" charset="0"/>
                        <a:cs typeface="Times New Roman" panose="02020603050405020304" pitchFamily="18" charset="0"/>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extLst>
                  <a:ext uri="{0D108BD9-81ED-4DB2-BD59-A6C34878D82A}">
                    <a16:rowId xmlns:a16="http://schemas.microsoft.com/office/drawing/2014/main" val="10002"/>
                  </a:ext>
                </a:extLst>
              </a:tr>
              <a:tr h="1323340">
                <a:tc>
                  <a:txBody>
                    <a:bodyPr/>
                    <a:lstStyle/>
                    <a:p>
                      <a:pPr marL="140335" marR="128270" algn="ctr">
                        <a:lnSpc>
                          <a:spcPct val="100000"/>
                        </a:lnSpc>
                        <a:spcBef>
                          <a:spcPts val="290"/>
                        </a:spcBef>
                      </a:pPr>
                      <a:r>
                        <a:rPr lang="en-US" dirty="0">
                          <a:latin typeface="Times New Roman" panose="02020603050405020304" pitchFamily="18" charset="0"/>
                          <a:cs typeface="Times New Roman" panose="02020603050405020304" pitchFamily="18" charset="0"/>
                        </a:rPr>
                        <a:t>Indian Ministry of Health Reports</a:t>
                      </a:r>
                      <a:endParaRPr sz="1800" dirty="0">
                        <a:latin typeface="Times New Roman" panose="02020603050405020304" pitchFamily="18" charset="0"/>
                        <a:cs typeface="Times New Roman" panose="02020603050405020304" pitchFamily="18" charset="0"/>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marR="774065" algn="r">
                        <a:lnSpc>
                          <a:spcPct val="100000"/>
                        </a:lnSpc>
                        <a:spcBef>
                          <a:spcPts val="290"/>
                        </a:spcBef>
                      </a:pPr>
                      <a:r>
                        <a:rPr lang="en-IN" dirty="0">
                          <a:latin typeface="Times New Roman" panose="02020603050405020304" pitchFamily="18" charset="0"/>
                          <a:cs typeface="Times New Roman" panose="02020603050405020304" pitchFamily="18" charset="0"/>
                        </a:rPr>
                        <a:t>2020</a:t>
                      </a:r>
                      <a:endParaRPr sz="1800" dirty="0">
                        <a:latin typeface="Times New Roman" panose="02020603050405020304" pitchFamily="18" charset="0"/>
                        <a:cs typeface="Times New Roman" panose="02020603050405020304" pitchFamily="18" charset="0"/>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marL="92710" marR="159385">
                        <a:lnSpc>
                          <a:spcPct val="100000"/>
                        </a:lnSpc>
                        <a:spcBef>
                          <a:spcPts val="290"/>
                        </a:spcBef>
                      </a:pPr>
                      <a:r>
                        <a:rPr lang="en-US" dirty="0">
                          <a:latin typeface="Times New Roman" panose="02020603050405020304" pitchFamily="18" charset="0"/>
                          <a:cs typeface="Times New Roman" panose="02020603050405020304" pitchFamily="18" charset="0"/>
                        </a:rPr>
                        <a:t>Lack of infrastructure affects rural care access</a:t>
                      </a:r>
                      <a:endParaRPr sz="1800" dirty="0">
                        <a:latin typeface="Times New Roman" panose="02020603050405020304" pitchFamily="18" charset="0"/>
                        <a:cs typeface="Times New Roman" panose="02020603050405020304" pitchFamily="18" charset="0"/>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marL="96520">
                        <a:lnSpc>
                          <a:spcPct val="100000"/>
                        </a:lnSpc>
                        <a:spcBef>
                          <a:spcPts val="290"/>
                        </a:spcBef>
                      </a:pPr>
                      <a:r>
                        <a:rPr lang="en-US" dirty="0">
                          <a:latin typeface="Times New Roman" panose="02020603050405020304" pitchFamily="18" charset="0"/>
                          <a:cs typeface="Times New Roman" panose="02020603050405020304" pitchFamily="18" charset="0"/>
                        </a:rPr>
                        <a:t>No integrated EMR &amp; digital tools in villages</a:t>
                      </a:r>
                      <a:endParaRPr sz="1800" dirty="0">
                        <a:latin typeface="Times New Roman" panose="02020603050405020304" pitchFamily="18" charset="0"/>
                        <a:cs typeface="Times New Roman" panose="02020603050405020304" pitchFamily="18" charset="0"/>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extLst>
                  <a:ext uri="{0D108BD9-81ED-4DB2-BD59-A6C34878D82A}">
                    <a16:rowId xmlns:a16="http://schemas.microsoft.com/office/drawing/2014/main" val="10003"/>
                  </a:ext>
                </a:extLst>
              </a:tr>
              <a:tr h="1323340">
                <a:tc>
                  <a:txBody>
                    <a:bodyPr/>
                    <a:lstStyle/>
                    <a:p>
                      <a:pPr marL="792480" marR="172085" indent="-613410">
                        <a:lnSpc>
                          <a:spcPct val="100000"/>
                        </a:lnSpc>
                        <a:spcBef>
                          <a:spcPts val="300"/>
                        </a:spcBef>
                      </a:pPr>
                      <a:r>
                        <a:rPr lang="en-US" dirty="0">
                          <a:latin typeface="Times New Roman" panose="02020603050405020304" pitchFamily="18" charset="0"/>
                          <a:cs typeface="Times New Roman" panose="02020603050405020304" pitchFamily="18" charset="0"/>
                        </a:rPr>
                        <a:t>IEEE Studies on mHealth Apps</a:t>
                      </a:r>
                      <a:endParaRPr sz="1800" dirty="0">
                        <a:latin typeface="Times New Roman" panose="02020603050405020304" pitchFamily="18" charset="0"/>
                        <a:cs typeface="Times New Roman" panose="02020603050405020304" pitchFamily="18" charset="0"/>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R="774065" algn="r">
                        <a:lnSpc>
                          <a:spcPct val="100000"/>
                        </a:lnSpc>
                        <a:spcBef>
                          <a:spcPts val="300"/>
                        </a:spcBef>
                      </a:pPr>
                      <a:r>
                        <a:rPr lang="en-IN" dirty="0">
                          <a:latin typeface="Times New Roman" panose="02020603050405020304" pitchFamily="18" charset="0"/>
                          <a:cs typeface="Times New Roman" panose="02020603050405020304" pitchFamily="18" charset="0"/>
                        </a:rPr>
                        <a:t>2023</a:t>
                      </a:r>
                      <a:endParaRPr sz="1800" dirty="0">
                        <a:latin typeface="Times New Roman" panose="02020603050405020304" pitchFamily="18" charset="0"/>
                        <a:cs typeface="Times New Roman" panose="02020603050405020304" pitchFamily="18" charset="0"/>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2710" marR="133350">
                        <a:lnSpc>
                          <a:spcPct val="100000"/>
                        </a:lnSpc>
                        <a:spcBef>
                          <a:spcPts val="300"/>
                        </a:spcBef>
                      </a:pPr>
                      <a:r>
                        <a:rPr lang="en-IN" dirty="0">
                          <a:latin typeface="Times New Roman" panose="02020603050405020304" pitchFamily="18" charset="0"/>
                          <a:cs typeface="Times New Roman" panose="02020603050405020304" pitchFamily="18" charset="0"/>
                        </a:rPr>
                        <a:t>Mobile apps enhance chronic care management</a:t>
                      </a:r>
                      <a:endParaRPr sz="1800" dirty="0">
                        <a:latin typeface="Times New Roman" panose="02020603050405020304" pitchFamily="18" charset="0"/>
                        <a:cs typeface="Times New Roman" panose="02020603050405020304" pitchFamily="18" charset="0"/>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6520" marR="182880">
                        <a:lnSpc>
                          <a:spcPct val="100000"/>
                        </a:lnSpc>
                        <a:spcBef>
                          <a:spcPts val="300"/>
                        </a:spcBef>
                      </a:pPr>
                      <a:r>
                        <a:rPr lang="en-US" dirty="0">
                          <a:latin typeface="Times New Roman" panose="02020603050405020304" pitchFamily="18" charset="0"/>
                          <a:cs typeface="Times New Roman" panose="02020603050405020304" pitchFamily="18" charset="0"/>
                        </a:rPr>
                        <a:t>Poor offline support &amp; literacy challenges</a:t>
                      </a:r>
                      <a:endParaRPr sz="1800" dirty="0">
                        <a:latin typeface="Times New Roman" panose="02020603050405020304" pitchFamily="18" charset="0"/>
                        <a:cs typeface="Times New Roman" panose="02020603050405020304" pitchFamily="18" charset="0"/>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213492"/>
            <a:ext cx="7712709" cy="574675"/>
          </a:xfrm>
          <a:prstGeom prst="rect">
            <a:avLst/>
          </a:prstGeom>
        </p:spPr>
        <p:txBody>
          <a:bodyPr vert="horz" wrap="square" lIns="0" tIns="12700" rIns="0" bIns="0" rtlCol="0">
            <a:spAutoFit/>
          </a:bodyPr>
          <a:lstStyle/>
          <a:p>
            <a:pPr marL="12700">
              <a:lnSpc>
                <a:spcPct val="100000"/>
              </a:lnSpc>
              <a:spcBef>
                <a:spcPts val="100"/>
              </a:spcBef>
            </a:pPr>
            <a:r>
              <a:rPr dirty="0"/>
              <a:t>Existing</a:t>
            </a:r>
            <a:r>
              <a:rPr spc="-140" dirty="0"/>
              <a:t> </a:t>
            </a:r>
            <a:r>
              <a:rPr dirty="0"/>
              <a:t>Solutions</a:t>
            </a:r>
            <a:r>
              <a:rPr spc="-95" dirty="0"/>
              <a:t> </a:t>
            </a:r>
            <a:r>
              <a:rPr spc="-10" dirty="0"/>
              <a:t>(Products/Services)</a:t>
            </a:r>
          </a:p>
        </p:txBody>
      </p:sp>
      <p:sp>
        <p:nvSpPr>
          <p:cNvPr id="3" name="object 3"/>
          <p:cNvSpPr txBox="1"/>
          <p:nvPr/>
        </p:nvSpPr>
        <p:spPr>
          <a:xfrm>
            <a:off x="5671058" y="6085390"/>
            <a:ext cx="333375" cy="271780"/>
          </a:xfrm>
          <a:prstGeom prst="rect">
            <a:avLst/>
          </a:prstGeom>
        </p:spPr>
        <p:txBody>
          <a:bodyPr vert="horz" wrap="square" lIns="0" tIns="0" rIns="0" bIns="0" rtlCol="0">
            <a:spAutoFit/>
          </a:bodyPr>
          <a:lstStyle/>
          <a:p>
            <a:pPr algn="r">
              <a:lnSpc>
                <a:spcPts val="1035"/>
              </a:lnSpc>
            </a:pPr>
            <a:r>
              <a:rPr sz="900" dirty="0">
                <a:solidFill>
                  <a:srgbClr val="878787"/>
                </a:solidFill>
                <a:latin typeface="Trebuchet MS"/>
                <a:cs typeface="Trebuchet MS"/>
              </a:rPr>
              <a:t>10</a:t>
            </a:r>
            <a:r>
              <a:rPr sz="900" spc="-15" dirty="0">
                <a:solidFill>
                  <a:srgbClr val="878787"/>
                </a:solidFill>
                <a:latin typeface="Trebuchet MS"/>
                <a:cs typeface="Trebuchet MS"/>
              </a:rPr>
              <a:t> </a:t>
            </a:r>
            <a:r>
              <a:rPr sz="900" spc="-30" dirty="0">
                <a:solidFill>
                  <a:srgbClr val="878787"/>
                </a:solidFill>
                <a:latin typeface="Trebuchet MS"/>
                <a:cs typeface="Trebuchet MS"/>
              </a:rPr>
              <a:t>Sep</a:t>
            </a:r>
            <a:endParaRPr sz="900">
              <a:latin typeface="Trebuchet MS"/>
              <a:cs typeface="Trebuchet MS"/>
            </a:endParaRPr>
          </a:p>
          <a:p>
            <a:pPr algn="r">
              <a:lnSpc>
                <a:spcPct val="100000"/>
              </a:lnSpc>
            </a:pPr>
            <a:r>
              <a:rPr sz="900" spc="-20" dirty="0">
                <a:solidFill>
                  <a:srgbClr val="878787"/>
                </a:solidFill>
                <a:latin typeface="Trebuchet MS"/>
                <a:cs typeface="Trebuchet MS"/>
              </a:rPr>
              <a:t>2025</a:t>
            </a:r>
            <a:endParaRPr sz="900">
              <a:latin typeface="Trebuchet MS"/>
              <a:cs typeface="Trebuchet MS"/>
            </a:endParaRPr>
          </a:p>
        </p:txBody>
      </p:sp>
      <p:graphicFrame>
        <p:nvGraphicFramePr>
          <p:cNvPr id="4" name="object 4"/>
          <p:cNvGraphicFramePr>
            <a:graphicFrameLocks noGrp="1"/>
          </p:cNvGraphicFramePr>
          <p:nvPr>
            <p:extLst>
              <p:ext uri="{D42A27DB-BD31-4B8C-83A1-F6EECF244321}">
                <p14:modId xmlns:p14="http://schemas.microsoft.com/office/powerpoint/2010/main" val="3234689632"/>
              </p:ext>
            </p:extLst>
          </p:nvPr>
        </p:nvGraphicFramePr>
        <p:xfrm>
          <a:off x="228599" y="859940"/>
          <a:ext cx="8610601" cy="6030510"/>
        </p:xfrm>
        <a:graphic>
          <a:graphicData uri="http://schemas.openxmlformats.org/drawingml/2006/table">
            <a:tbl>
              <a:tblPr firstRow="1" bandRow="1">
                <a:tableStyleId>{2D5ABB26-0587-4C30-8999-92F81FD0307C}</a:tableStyleId>
              </a:tblPr>
              <a:tblGrid>
                <a:gridCol w="1590412">
                  <a:extLst>
                    <a:ext uri="{9D8B030D-6E8A-4147-A177-3AD203B41FA5}">
                      <a16:colId xmlns:a16="http://schemas.microsoft.com/office/drawing/2014/main" val="20000"/>
                    </a:ext>
                  </a:extLst>
                </a:gridCol>
                <a:gridCol w="1689815">
                  <a:extLst>
                    <a:ext uri="{9D8B030D-6E8A-4147-A177-3AD203B41FA5}">
                      <a16:colId xmlns:a16="http://schemas.microsoft.com/office/drawing/2014/main" val="20001"/>
                    </a:ext>
                  </a:extLst>
                </a:gridCol>
                <a:gridCol w="1590414">
                  <a:extLst>
                    <a:ext uri="{9D8B030D-6E8A-4147-A177-3AD203B41FA5}">
                      <a16:colId xmlns:a16="http://schemas.microsoft.com/office/drawing/2014/main" val="20002"/>
                    </a:ext>
                  </a:extLst>
                </a:gridCol>
                <a:gridCol w="1789217">
                  <a:extLst>
                    <a:ext uri="{9D8B030D-6E8A-4147-A177-3AD203B41FA5}">
                      <a16:colId xmlns:a16="http://schemas.microsoft.com/office/drawing/2014/main" val="20003"/>
                    </a:ext>
                  </a:extLst>
                </a:gridCol>
                <a:gridCol w="1950743">
                  <a:extLst>
                    <a:ext uri="{9D8B030D-6E8A-4147-A177-3AD203B41FA5}">
                      <a16:colId xmlns:a16="http://schemas.microsoft.com/office/drawing/2014/main" val="20004"/>
                    </a:ext>
                  </a:extLst>
                </a:gridCol>
              </a:tblGrid>
              <a:tr h="689759">
                <a:tc>
                  <a:txBody>
                    <a:bodyPr/>
                    <a:lstStyle/>
                    <a:p>
                      <a:r>
                        <a:rPr b="1" dirty="0">
                          <a:latin typeface="Times New Roman" panose="02020603050405020304" pitchFamily="18" charset="0"/>
                          <a:cs typeface="Times New Roman" panose="02020603050405020304" pitchFamily="18" charset="0"/>
                        </a:rPr>
                        <a:t>Feature / Criteria</a:t>
                      </a:r>
                    </a:p>
                  </a:txBody>
                  <a:tcPr>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38100">
                      <a:solidFill>
                        <a:srgbClr val="FFFFFF"/>
                      </a:solidFill>
                      <a:prstDash val="solid"/>
                    </a:lnB>
                    <a:solidFill>
                      <a:srgbClr val="90C224"/>
                    </a:solidFill>
                  </a:tcPr>
                </a:tc>
                <a:tc>
                  <a:txBody>
                    <a:bodyPr/>
                    <a:lstStyle/>
                    <a:p>
                      <a:r>
                        <a:rPr b="1" dirty="0">
                          <a:latin typeface="Times New Roman" panose="02020603050405020304" pitchFamily="18" charset="0"/>
                          <a:cs typeface="Times New Roman" panose="02020603050405020304" pitchFamily="18" charset="0"/>
                        </a:rPr>
                        <a:t>Product A</a:t>
                      </a:r>
                    </a:p>
                  </a:txBody>
                  <a:tcPr>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90C224"/>
                    </a:solidFill>
                  </a:tcPr>
                </a:tc>
                <a:tc>
                  <a:txBody>
                    <a:bodyPr/>
                    <a:lstStyle/>
                    <a:p>
                      <a:r>
                        <a:rPr b="1">
                          <a:latin typeface="Times New Roman" panose="02020603050405020304" pitchFamily="18" charset="0"/>
                          <a:cs typeface="Times New Roman" panose="02020603050405020304" pitchFamily="18" charset="0"/>
                        </a:rPr>
                        <a:t>Product B</a:t>
                      </a:r>
                    </a:p>
                  </a:txBody>
                  <a:tcPr>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4"/>
                    </a:solidFill>
                  </a:tcPr>
                </a:tc>
                <a:tc>
                  <a:txBody>
                    <a:bodyPr/>
                    <a:lstStyle/>
                    <a:p>
                      <a:r>
                        <a:rPr b="1">
                          <a:latin typeface="Times New Roman" panose="02020603050405020304" pitchFamily="18" charset="0"/>
                          <a:cs typeface="Times New Roman" panose="02020603050405020304" pitchFamily="18" charset="0"/>
                        </a:rPr>
                        <a:t>Product C</a:t>
                      </a:r>
                    </a:p>
                  </a:txBody>
                  <a:tcPr>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4"/>
                    </a:solidFill>
                  </a:tcPr>
                </a:tc>
                <a:tc>
                  <a:txBody>
                    <a:bodyPr/>
                    <a:lstStyle/>
                    <a:p>
                      <a:r>
                        <a:rPr b="1" dirty="0">
                          <a:latin typeface="Times New Roman" panose="02020603050405020304" pitchFamily="18" charset="0"/>
                          <a:cs typeface="Times New Roman" panose="02020603050405020304" pitchFamily="18" charset="0"/>
                        </a:rPr>
                        <a:t>Our Approach</a:t>
                      </a:r>
                    </a:p>
                  </a:txBody>
                  <a:tcPr>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90C224"/>
                    </a:solidFill>
                  </a:tcPr>
                </a:tc>
                <a:extLst>
                  <a:ext uri="{0D108BD9-81ED-4DB2-BD59-A6C34878D82A}">
                    <a16:rowId xmlns:a16="http://schemas.microsoft.com/office/drawing/2014/main" val="10000"/>
                  </a:ext>
                </a:extLst>
              </a:tr>
              <a:tr h="1051363">
                <a:tc>
                  <a:txBody>
                    <a:bodyPr/>
                    <a:lstStyle/>
                    <a:p>
                      <a:r>
                        <a:rPr>
                          <a:latin typeface="Times New Roman" panose="02020603050405020304" pitchFamily="18" charset="0"/>
                          <a:cs typeface="Times New Roman" panose="02020603050405020304" pitchFamily="18" charset="0"/>
                        </a:rPr>
                        <a:t>Target User</a:t>
                      </a:r>
                    </a:p>
                  </a:txBody>
                  <a:tcPr>
                    <a:lnL w="12700">
                      <a:solidFill>
                        <a:srgbClr val="FFFFFF"/>
                      </a:solidFill>
                      <a:prstDash val="soli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a:solidFill>
                        <a:srgbClr val="FFFFFF"/>
                      </a:solidFill>
                      <a:prstDash val="solid"/>
                    </a:lnB>
                    <a:solidFill>
                      <a:srgbClr val="90C224"/>
                    </a:solidFill>
                  </a:tcPr>
                </a:tc>
                <a:tc>
                  <a:txBody>
                    <a:bodyPr/>
                    <a:lstStyle/>
                    <a:p>
                      <a:pPr>
                        <a:buNone/>
                      </a:pPr>
                      <a:r>
                        <a:rPr lang="en-IN" dirty="0">
                          <a:latin typeface="Times New Roman" panose="02020603050405020304" pitchFamily="18" charset="0"/>
                          <a:cs typeface="Times New Roman" panose="02020603050405020304" pitchFamily="18" charset="0"/>
                        </a:rPr>
                        <a:t>Rural &amp; urban patients</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0C224"/>
                    </a:solidFill>
                  </a:tcPr>
                </a:tc>
                <a:tc>
                  <a:txBody>
                    <a:bodyPr/>
                    <a:lstStyle/>
                    <a:p>
                      <a:pPr marL="92710" marR="356235">
                        <a:lnSpc>
                          <a:spcPct val="100000"/>
                        </a:lnSpc>
                        <a:spcBef>
                          <a:spcPts val="290"/>
                        </a:spcBef>
                      </a:pPr>
                      <a:r>
                        <a:rPr lang="en-IN" sz="1600" dirty="0">
                          <a:latin typeface="Times New Roman" panose="02020603050405020304" pitchFamily="18" charset="0"/>
                          <a:cs typeface="Times New Roman" panose="02020603050405020304" pitchFamily="18" charset="0"/>
                        </a:rPr>
                        <a:t>Urban smartphone </a:t>
                      </a:r>
                      <a:r>
                        <a:rPr lang="en-IN" sz="1600" dirty="0" err="1">
                          <a:latin typeface="Times New Roman" panose="02020603050405020304" pitchFamily="18" charset="0"/>
                          <a:cs typeface="Times New Roman" panose="02020603050405020304" pitchFamily="18" charset="0"/>
                        </a:rPr>
                        <a:t>usersHealth</a:t>
                      </a:r>
                      <a:r>
                        <a:rPr lang="en-IN" sz="1600" dirty="0">
                          <a:latin typeface="Times New Roman" panose="02020603050405020304" pitchFamily="18" charset="0"/>
                          <a:cs typeface="Times New Roman" panose="02020603050405020304" pitchFamily="18" charset="0"/>
                        </a:rPr>
                        <a:t> record users</a:t>
                      </a:r>
                      <a:endParaRPr sz="1600" dirty="0">
                        <a:latin typeface="Times New Roman" panose="02020603050405020304" pitchFamily="18" charset="0"/>
                        <a:cs typeface="Times New Roman" panose="02020603050405020304" pitchFamily="18" charset="0"/>
                      </a:endParaRPr>
                    </a:p>
                  </a:txBody>
                  <a:tcPr marL="0" marR="0" marT="3683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a:solidFill>
                        <a:srgbClr val="FFFFFF"/>
                      </a:solidFill>
                      <a:prstDash val="solid"/>
                    </a:lnB>
                    <a:solidFill>
                      <a:srgbClr val="90C224"/>
                    </a:solidFill>
                  </a:tcPr>
                </a:tc>
                <a:tc>
                  <a:txBody>
                    <a:bodyPr/>
                    <a:lstStyle/>
                    <a:p>
                      <a:pPr marL="93345" marR="390525">
                        <a:lnSpc>
                          <a:spcPct val="100000"/>
                        </a:lnSpc>
                        <a:spcBef>
                          <a:spcPts val="290"/>
                        </a:spcBef>
                      </a:pPr>
                      <a:endParaRPr lang="en-IN" sz="1600" dirty="0">
                        <a:latin typeface="Times New Roman" panose="02020603050405020304" pitchFamily="18" charset="0"/>
                        <a:cs typeface="Times New Roman" panose="02020603050405020304" pitchFamily="18" charset="0"/>
                      </a:endParaRPr>
                    </a:p>
                    <a:p>
                      <a:pPr marL="93345" marR="390525">
                        <a:lnSpc>
                          <a:spcPct val="100000"/>
                        </a:lnSpc>
                        <a:spcBef>
                          <a:spcPts val="290"/>
                        </a:spcBef>
                      </a:pPr>
                      <a:r>
                        <a:rPr lang="en-IN" sz="1600" dirty="0">
                          <a:latin typeface="Times New Roman" panose="02020603050405020304" pitchFamily="18" charset="0"/>
                          <a:cs typeface="Times New Roman" panose="02020603050405020304" pitchFamily="18" charset="0"/>
                        </a:rPr>
                        <a:t>Health record users</a:t>
                      </a:r>
                      <a:endParaRPr sz="1600" dirty="0">
                        <a:latin typeface="Times New Roman" panose="02020603050405020304" pitchFamily="18" charset="0"/>
                        <a:cs typeface="Times New Roman" panose="02020603050405020304" pitchFamily="18" charset="0"/>
                      </a:endParaRPr>
                    </a:p>
                  </a:txBody>
                  <a:tcPr marL="0" marR="0" marT="3683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a:solidFill>
                        <a:srgbClr val="FFFFFF"/>
                      </a:solidFill>
                      <a:prstDash val="solid"/>
                    </a:lnB>
                    <a:solidFill>
                      <a:srgbClr val="90C224"/>
                    </a:solidFill>
                  </a:tcPr>
                </a:tc>
                <a:tc>
                  <a:txBody>
                    <a:bodyPr/>
                    <a:lstStyle/>
                    <a:p>
                      <a:pPr marL="96520">
                        <a:lnSpc>
                          <a:spcPct val="100000"/>
                        </a:lnSpc>
                        <a:spcBef>
                          <a:spcPts val="290"/>
                        </a:spcBef>
                      </a:pPr>
                      <a:endParaRPr lang="en-IN" sz="1600" dirty="0">
                        <a:latin typeface="Times New Roman" panose="02020603050405020304" pitchFamily="18" charset="0"/>
                        <a:cs typeface="Times New Roman" panose="02020603050405020304" pitchFamily="18" charset="0"/>
                      </a:endParaRPr>
                    </a:p>
                    <a:p>
                      <a:pPr marL="96520">
                        <a:lnSpc>
                          <a:spcPct val="100000"/>
                        </a:lnSpc>
                        <a:spcBef>
                          <a:spcPts val="290"/>
                        </a:spcBef>
                      </a:pPr>
                      <a:r>
                        <a:rPr lang="en-IN" sz="1600" dirty="0">
                          <a:latin typeface="Times New Roman" panose="02020603050405020304" pitchFamily="18" charset="0"/>
                          <a:cs typeface="Times New Roman" panose="02020603050405020304" pitchFamily="18" charset="0"/>
                        </a:rPr>
                        <a:t>Rural Nabha patients</a:t>
                      </a:r>
                      <a:endParaRPr sz="1600" dirty="0">
                        <a:latin typeface="Times New Roman" panose="02020603050405020304" pitchFamily="18" charset="0"/>
                        <a:cs typeface="Times New Roman" panose="02020603050405020304" pitchFamily="18" charset="0"/>
                      </a:endParaRPr>
                    </a:p>
                  </a:txBody>
                  <a:tcPr marL="0" marR="0" marT="36830" marB="0">
                    <a:lnL w="12700" cap="flat" cmpd="sng" algn="ctr">
                      <a:solidFill>
                        <a:srgbClr val="FFFFFF"/>
                      </a:solidFill>
                      <a:prstDash val="solid"/>
                      <a:round/>
                      <a:headEnd type="none" w="med" len="med"/>
                      <a:tailEnd type="none" w="med" len="med"/>
                    </a:lnL>
                    <a:lnR w="12700">
                      <a:solidFill>
                        <a:srgbClr val="FFFFFF"/>
                      </a:solidFill>
                      <a:prstDash val="soli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0C224"/>
                    </a:solidFill>
                  </a:tcPr>
                </a:tc>
                <a:extLst>
                  <a:ext uri="{0D108BD9-81ED-4DB2-BD59-A6C34878D82A}">
                    <a16:rowId xmlns:a16="http://schemas.microsoft.com/office/drawing/2014/main" val="242987964"/>
                  </a:ext>
                </a:extLst>
              </a:tr>
              <a:tr h="1005818">
                <a:tc>
                  <a:txBody>
                    <a:bodyPr/>
                    <a:lstStyle/>
                    <a:p>
                      <a:r>
                        <a:rPr>
                          <a:latin typeface="Times New Roman" panose="02020603050405020304" pitchFamily="18" charset="0"/>
                          <a:cs typeface="Times New Roman" panose="02020603050405020304" pitchFamily="18" charset="0"/>
                        </a:rPr>
                        <a:t>Core Function</a:t>
                      </a:r>
                    </a:p>
                  </a:txBody>
                  <a:tcPr>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DBE9CD"/>
                    </a:solidFill>
                  </a:tcPr>
                </a:tc>
                <a:tc>
                  <a:txBody>
                    <a:bodyPr/>
                    <a:lstStyle/>
                    <a:p>
                      <a:pPr>
                        <a:buNone/>
                      </a:pPr>
                      <a:r>
                        <a:rPr lang="en-IN" dirty="0">
                          <a:latin typeface="Times New Roman" panose="02020603050405020304" pitchFamily="18" charset="0"/>
                          <a:cs typeface="Times New Roman" panose="02020603050405020304" pitchFamily="18" charset="0"/>
                        </a:rPr>
                        <a:t>Basic video consult</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38100" cap="flat" cmpd="sng" algn="ctr">
                      <a:solidFill>
                        <a:srgbClr val="FFFFFF"/>
                      </a:solidFill>
                      <a:prstDash val="solid"/>
                      <a:round/>
                      <a:headEnd type="none" w="med" len="med"/>
                      <a:tailEnd type="none" w="med" len="med"/>
                    </a:lnT>
                    <a:lnB w="12700">
                      <a:solidFill>
                        <a:srgbClr val="FFFFFF"/>
                      </a:solidFill>
                      <a:prstDash val="solid"/>
                    </a:lnB>
                    <a:solidFill>
                      <a:srgbClr val="DBE9CD"/>
                    </a:solidFill>
                  </a:tcPr>
                </a:tc>
                <a:tc>
                  <a:txBody>
                    <a:bodyPr/>
                    <a:lstStyle/>
                    <a:p>
                      <a:pPr marL="92710" marR="135890">
                        <a:lnSpc>
                          <a:spcPct val="100000"/>
                        </a:lnSpc>
                        <a:spcBef>
                          <a:spcPts val="300"/>
                        </a:spcBef>
                      </a:pPr>
                      <a:endParaRPr lang="en-IN" sz="1600" dirty="0">
                        <a:latin typeface="Times New Roman" panose="02020603050405020304" pitchFamily="18" charset="0"/>
                        <a:cs typeface="Times New Roman" panose="02020603050405020304" pitchFamily="18" charset="0"/>
                      </a:endParaRPr>
                    </a:p>
                    <a:p>
                      <a:pPr marL="92710" marR="135890">
                        <a:lnSpc>
                          <a:spcPct val="100000"/>
                        </a:lnSpc>
                        <a:spcBef>
                          <a:spcPts val="300"/>
                        </a:spcBef>
                      </a:pPr>
                      <a:r>
                        <a:rPr lang="en-IN" sz="1600" dirty="0" err="1">
                          <a:latin typeface="Times New Roman" panose="02020603050405020304" pitchFamily="18" charset="0"/>
                          <a:cs typeface="Times New Roman" panose="02020603050405020304" pitchFamily="18" charset="0"/>
                        </a:rPr>
                        <a:t>Teleconsult</a:t>
                      </a:r>
                      <a:r>
                        <a:rPr lang="en-IN" sz="1600" dirty="0">
                          <a:latin typeface="Times New Roman" panose="02020603050405020304" pitchFamily="18" charset="0"/>
                          <a:cs typeface="Times New Roman" panose="02020603050405020304" pitchFamily="18" charset="0"/>
                        </a:rPr>
                        <a:t> + monitoring</a:t>
                      </a:r>
                      <a:endParaRPr sz="1600" dirty="0">
                        <a:latin typeface="Times New Roman" panose="02020603050405020304" pitchFamily="18" charset="0"/>
                        <a:cs typeface="Times New Roman" panose="02020603050405020304" pitchFamily="18" charset="0"/>
                      </a:endParaRPr>
                    </a:p>
                  </a:txBody>
                  <a:tcPr marL="0" marR="0" marT="38100"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3345" marR="746760">
                        <a:lnSpc>
                          <a:spcPct val="100000"/>
                        </a:lnSpc>
                        <a:spcBef>
                          <a:spcPts val="300"/>
                        </a:spcBef>
                      </a:pPr>
                      <a:endParaRPr lang="en-US" sz="1600" dirty="0">
                        <a:latin typeface="Times New Roman" panose="02020603050405020304" pitchFamily="18" charset="0"/>
                        <a:cs typeface="Times New Roman" panose="02020603050405020304" pitchFamily="18" charset="0"/>
                      </a:endParaRPr>
                    </a:p>
                    <a:p>
                      <a:pPr marL="93345" marR="746760">
                        <a:lnSpc>
                          <a:spcPct val="100000"/>
                        </a:lnSpc>
                        <a:spcBef>
                          <a:spcPts val="300"/>
                        </a:spcBef>
                      </a:pPr>
                      <a:r>
                        <a:rPr lang="en-IN" sz="1600" dirty="0">
                          <a:latin typeface="Times New Roman" panose="02020603050405020304" pitchFamily="18" charset="0"/>
                          <a:cs typeface="Times New Roman" panose="02020603050405020304" pitchFamily="18" charset="0"/>
                        </a:rPr>
                        <a:t>EMR storage</a:t>
                      </a:r>
                      <a:endParaRPr sz="1600" dirty="0">
                        <a:latin typeface="Times New Roman" panose="02020603050405020304" pitchFamily="18" charset="0"/>
                        <a:cs typeface="Times New Roman" panose="02020603050405020304" pitchFamily="18" charset="0"/>
                      </a:endParaRPr>
                    </a:p>
                  </a:txBody>
                  <a:tcPr marL="0" marR="0" marT="381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6520" marR="659765">
                        <a:lnSpc>
                          <a:spcPct val="100000"/>
                        </a:lnSpc>
                        <a:spcBef>
                          <a:spcPts val="300"/>
                        </a:spcBef>
                      </a:pPr>
                      <a:endParaRPr lang="en-IN" sz="1600" dirty="0">
                        <a:latin typeface="Times New Roman" panose="02020603050405020304" pitchFamily="18" charset="0"/>
                        <a:cs typeface="Times New Roman" panose="02020603050405020304" pitchFamily="18" charset="0"/>
                      </a:endParaRPr>
                    </a:p>
                    <a:p>
                      <a:pPr marL="96520" marR="659765">
                        <a:lnSpc>
                          <a:spcPct val="100000"/>
                        </a:lnSpc>
                        <a:spcBef>
                          <a:spcPts val="300"/>
                        </a:spcBef>
                      </a:pPr>
                      <a:r>
                        <a:rPr lang="en-IN" sz="1600" dirty="0" err="1">
                          <a:latin typeface="Times New Roman" panose="02020603050405020304" pitchFamily="18" charset="0"/>
                          <a:cs typeface="Times New Roman" panose="02020603050405020304" pitchFamily="18" charset="0"/>
                        </a:rPr>
                        <a:t>Telemed</a:t>
                      </a:r>
                      <a:r>
                        <a:rPr lang="en-IN" sz="1600" dirty="0">
                          <a:latin typeface="Times New Roman" panose="02020603050405020304" pitchFamily="18" charset="0"/>
                          <a:cs typeface="Times New Roman" panose="02020603050405020304" pitchFamily="18" charset="0"/>
                        </a:rPr>
                        <a:t> + AI triage + EMR</a:t>
                      </a:r>
                      <a:endParaRPr sz="1600" dirty="0">
                        <a:latin typeface="Times New Roman" panose="02020603050405020304" pitchFamily="18" charset="0"/>
                        <a:cs typeface="Times New Roman" panose="02020603050405020304" pitchFamily="18" charset="0"/>
                      </a:endParaRPr>
                    </a:p>
                  </a:txBody>
                  <a:tcPr marL="0" marR="0" marT="38100" marB="0">
                    <a:lnL w="12700" cap="flat" cmpd="sng" algn="ctr">
                      <a:solidFill>
                        <a:srgbClr val="FFFFFF"/>
                      </a:solidFill>
                      <a:prstDash val="solid"/>
                      <a:round/>
                      <a:headEnd type="none" w="med" len="med"/>
                      <a:tailEnd type="none" w="med" len="med"/>
                    </a:lnL>
                    <a:lnR w="12700">
                      <a:solidFill>
                        <a:srgbClr val="FFFFFF"/>
                      </a:solidFill>
                      <a:prstDash val="soli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E9CD"/>
                    </a:solidFill>
                  </a:tcPr>
                </a:tc>
                <a:extLst>
                  <a:ext uri="{0D108BD9-81ED-4DB2-BD59-A6C34878D82A}">
                    <a16:rowId xmlns:a16="http://schemas.microsoft.com/office/drawing/2014/main" val="10001"/>
                  </a:ext>
                </a:extLst>
              </a:tr>
              <a:tr h="664852">
                <a:tc>
                  <a:txBody>
                    <a:bodyPr/>
                    <a:lstStyle/>
                    <a:p>
                      <a:r>
                        <a:rPr>
                          <a:latin typeface="Times New Roman" panose="02020603050405020304" pitchFamily="18" charset="0"/>
                          <a:cs typeface="Times New Roman" panose="02020603050405020304" pitchFamily="18" charset="0"/>
                        </a:rPr>
                        <a:t>Accuracy/Performance</a:t>
                      </a:r>
                    </a:p>
                  </a:txBody>
                  <a:tcP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2075">
                        <a:lnSpc>
                          <a:spcPct val="100000"/>
                        </a:lnSpc>
                        <a:spcBef>
                          <a:spcPts val="300"/>
                        </a:spcBef>
                      </a:pPr>
                      <a:r>
                        <a:rPr lang="en-IN" sz="1600" dirty="0">
                          <a:latin typeface="Times New Roman" panose="02020603050405020304" pitchFamily="18" charset="0"/>
                          <a:cs typeface="Times New Roman" panose="02020603050405020304" pitchFamily="18" charset="0"/>
                        </a:rPr>
                        <a:t>Limited diagnosis</a:t>
                      </a:r>
                      <a:endParaRPr sz="1600" dirty="0">
                        <a:latin typeface="Times New Roman" panose="02020603050405020304" pitchFamily="18" charset="0"/>
                        <a:cs typeface="Times New Roman" panose="02020603050405020304" pitchFamily="18" charset="0"/>
                      </a:endParaRPr>
                    </a:p>
                  </a:txBody>
                  <a:tcPr marL="0" marR="0" marT="38100"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CF4E8"/>
                    </a:solidFill>
                  </a:tcPr>
                </a:tc>
                <a:tc>
                  <a:txBody>
                    <a:bodyPr/>
                    <a:lstStyle/>
                    <a:p>
                      <a:pPr marL="92710">
                        <a:lnSpc>
                          <a:spcPct val="100000"/>
                        </a:lnSpc>
                        <a:spcBef>
                          <a:spcPts val="300"/>
                        </a:spcBef>
                      </a:pPr>
                      <a:r>
                        <a:rPr lang="en-IN" sz="1600" dirty="0">
                          <a:latin typeface="Times New Roman" panose="02020603050405020304" pitchFamily="18" charset="0"/>
                          <a:cs typeface="Times New Roman" panose="02020603050405020304" pitchFamily="18" charset="0"/>
                        </a:rPr>
                        <a:t>No AI triage</a:t>
                      </a:r>
                      <a:endParaRPr sz="1600" dirty="0">
                        <a:latin typeface="Times New Roman" panose="02020603050405020304" pitchFamily="18" charset="0"/>
                        <a:cs typeface="Times New Roman" panose="02020603050405020304" pitchFamily="18" charset="0"/>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3345" marR="349250">
                        <a:lnSpc>
                          <a:spcPct val="100000"/>
                        </a:lnSpc>
                        <a:spcBef>
                          <a:spcPts val="300"/>
                        </a:spcBef>
                      </a:pPr>
                      <a:r>
                        <a:rPr lang="en-IN" sz="1600" dirty="0">
                          <a:latin typeface="Times New Roman" panose="02020603050405020304" pitchFamily="18" charset="0"/>
                          <a:cs typeface="Times New Roman" panose="02020603050405020304" pitchFamily="18" charset="0"/>
                        </a:rPr>
                        <a:t>No consult feature</a:t>
                      </a:r>
                      <a:endParaRPr sz="1600" dirty="0">
                        <a:latin typeface="Times New Roman" panose="02020603050405020304" pitchFamily="18" charset="0"/>
                        <a:cs typeface="Times New Roman" panose="02020603050405020304" pitchFamily="18" charset="0"/>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6520" marR="285750">
                        <a:lnSpc>
                          <a:spcPct val="100000"/>
                        </a:lnSpc>
                        <a:spcBef>
                          <a:spcPts val="300"/>
                        </a:spcBef>
                      </a:pPr>
                      <a:r>
                        <a:rPr lang="en-IN" sz="1600" dirty="0">
                          <a:latin typeface="Times New Roman" panose="02020603050405020304" pitchFamily="18" charset="0"/>
                          <a:cs typeface="Times New Roman" panose="02020603050405020304" pitchFamily="18" charset="0"/>
                        </a:rPr>
                        <a:t>AI-based alerts</a:t>
                      </a:r>
                      <a:endParaRPr sz="1600" dirty="0">
                        <a:latin typeface="Times New Roman" panose="02020603050405020304" pitchFamily="18" charset="0"/>
                        <a:cs typeface="Times New Roman" panose="02020603050405020304" pitchFamily="18" charset="0"/>
                      </a:endParaRPr>
                    </a:p>
                  </a:txBody>
                  <a:tcPr marL="0" marR="0" marT="38100"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F4E8"/>
                    </a:solidFill>
                  </a:tcPr>
                </a:tc>
                <a:extLst>
                  <a:ext uri="{0D108BD9-81ED-4DB2-BD59-A6C34878D82A}">
                    <a16:rowId xmlns:a16="http://schemas.microsoft.com/office/drawing/2014/main" val="10002"/>
                  </a:ext>
                </a:extLst>
              </a:tr>
              <a:tr h="850844">
                <a:tc>
                  <a:txBody>
                    <a:bodyPr/>
                    <a:lstStyle/>
                    <a:p>
                      <a:r>
                        <a:rPr>
                          <a:latin typeface="Times New Roman" panose="02020603050405020304" pitchFamily="18" charset="0"/>
                          <a:cs typeface="Times New Roman" panose="02020603050405020304" pitchFamily="18" charset="0"/>
                        </a:rPr>
                        <a:t>Cost</a:t>
                      </a:r>
                    </a:p>
                  </a:txBody>
                  <a:tcP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marL="92075">
                        <a:lnSpc>
                          <a:spcPct val="100000"/>
                        </a:lnSpc>
                        <a:spcBef>
                          <a:spcPts val="305"/>
                        </a:spcBef>
                      </a:pPr>
                      <a:r>
                        <a:rPr lang="en-IN" sz="1600" dirty="0">
                          <a:latin typeface="Times New Roman" panose="02020603050405020304" pitchFamily="18" charset="0"/>
                          <a:cs typeface="Times New Roman" panose="02020603050405020304" pitchFamily="18" charset="0"/>
                        </a:rPr>
                        <a:t>Free (Govt)</a:t>
                      </a:r>
                      <a:endParaRPr sz="1600" dirty="0">
                        <a:latin typeface="Times New Roman" panose="02020603050405020304" pitchFamily="18" charset="0"/>
                        <a:cs typeface="Times New Roman" panose="02020603050405020304" pitchFamily="18" charset="0"/>
                      </a:endParaRPr>
                    </a:p>
                  </a:txBody>
                  <a:tcPr marL="0" marR="0" marT="38735"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marL="92710">
                        <a:lnSpc>
                          <a:spcPct val="100000"/>
                        </a:lnSpc>
                        <a:spcBef>
                          <a:spcPts val="305"/>
                        </a:spcBef>
                      </a:pPr>
                      <a:r>
                        <a:rPr lang="en-IN" sz="1600" dirty="0">
                          <a:latin typeface="Times New Roman" panose="02020603050405020304" pitchFamily="18" charset="0"/>
                          <a:cs typeface="Times New Roman" panose="02020603050405020304" pitchFamily="18" charset="0"/>
                        </a:rPr>
                        <a:t>Paid (subscription)</a:t>
                      </a:r>
                      <a:endParaRPr sz="1600" dirty="0">
                        <a:latin typeface="Times New Roman" panose="02020603050405020304" pitchFamily="18" charset="0"/>
                        <a:cs typeface="Times New Roman" panose="02020603050405020304" pitchFamily="18" charset="0"/>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marL="93345">
                        <a:lnSpc>
                          <a:spcPct val="100000"/>
                        </a:lnSpc>
                        <a:spcBef>
                          <a:spcPts val="305"/>
                        </a:spcBef>
                      </a:pPr>
                      <a:r>
                        <a:rPr lang="en-IN" sz="1600" dirty="0">
                          <a:latin typeface="Times New Roman" panose="02020603050405020304" pitchFamily="18" charset="0"/>
                          <a:cs typeface="Times New Roman" panose="02020603050405020304" pitchFamily="18" charset="0"/>
                        </a:rPr>
                        <a:t>Freemium</a:t>
                      </a:r>
                      <a:endParaRPr sz="1600" dirty="0">
                        <a:latin typeface="Times New Roman" panose="02020603050405020304" pitchFamily="18" charset="0"/>
                        <a:cs typeface="Times New Roman" panose="02020603050405020304" pitchFamily="18" charset="0"/>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marL="96520" marR="107950">
                        <a:lnSpc>
                          <a:spcPct val="100000"/>
                        </a:lnSpc>
                        <a:spcBef>
                          <a:spcPts val="305"/>
                        </a:spcBef>
                      </a:pPr>
                      <a:r>
                        <a:rPr lang="en-IN" sz="1600" dirty="0">
                          <a:latin typeface="Times New Roman" panose="02020603050405020304" pitchFamily="18" charset="0"/>
                          <a:cs typeface="Times New Roman" panose="02020603050405020304" pitchFamily="18" charset="0"/>
                        </a:rPr>
                        <a:t>Low-cost, community-based</a:t>
                      </a:r>
                      <a:endParaRPr sz="1600" dirty="0">
                        <a:latin typeface="Times New Roman" panose="02020603050405020304" pitchFamily="18" charset="0"/>
                        <a:cs typeface="Times New Roman" panose="02020603050405020304" pitchFamily="18" charset="0"/>
                      </a:endParaRPr>
                    </a:p>
                  </a:txBody>
                  <a:tcPr marL="0" marR="0" marT="38735"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E9CD"/>
                    </a:solidFill>
                  </a:tcPr>
                </a:tc>
                <a:extLst>
                  <a:ext uri="{0D108BD9-81ED-4DB2-BD59-A6C34878D82A}">
                    <a16:rowId xmlns:a16="http://schemas.microsoft.com/office/drawing/2014/main" val="10003"/>
                  </a:ext>
                </a:extLst>
              </a:tr>
              <a:tr h="510824">
                <a:tc>
                  <a:txBody>
                    <a:bodyPr/>
                    <a:lstStyle/>
                    <a:p>
                      <a:r>
                        <a:rPr dirty="0">
                          <a:latin typeface="Times New Roman" panose="02020603050405020304" pitchFamily="18" charset="0"/>
                          <a:cs typeface="Times New Roman" panose="02020603050405020304" pitchFamily="18" charset="0"/>
                        </a:rPr>
                        <a:t>Deployment</a:t>
                      </a:r>
                    </a:p>
                  </a:txBody>
                  <a:tcP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a:lnSpc>
                          <a:spcPct val="100000"/>
                        </a:lnSpc>
                      </a:pPr>
                      <a:r>
                        <a:rPr lang="en-IN" sz="1600" dirty="0">
                          <a:latin typeface="Times New Roman" panose="02020603050405020304" pitchFamily="18" charset="0"/>
                          <a:cs typeface="Times New Roman" panose="02020603050405020304" pitchFamily="18" charset="0"/>
                        </a:rPr>
                        <a:t>  Web &amp; mobile</a:t>
                      </a:r>
                      <a:endParaRPr sz="1700" dirty="0">
                        <a:latin typeface="Times New Roman" panose="02020603050405020304" pitchFamily="18"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a:lnSpc>
                          <a:spcPct val="100000"/>
                        </a:lnSpc>
                      </a:pPr>
                      <a:r>
                        <a:rPr lang="en-IN" sz="1600" dirty="0">
                          <a:latin typeface="Times New Roman" panose="02020603050405020304" pitchFamily="18" charset="0"/>
                          <a:cs typeface="Times New Roman" panose="02020603050405020304" pitchFamily="18" charset="0"/>
                        </a:rPr>
                        <a:t>Subscription app</a:t>
                      </a:r>
                      <a:endParaRPr sz="17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a:lnSpc>
                          <a:spcPct val="100000"/>
                        </a:lnSpc>
                      </a:pPr>
                      <a:r>
                        <a:rPr lang="en-IN" sz="1600" dirty="0">
                          <a:latin typeface="Times New Roman" panose="02020603050405020304" pitchFamily="18" charset="0"/>
                          <a:cs typeface="Times New Roman" panose="02020603050405020304" pitchFamily="18" charset="0"/>
                        </a:rPr>
                        <a:t>   Cloud EMR</a:t>
                      </a:r>
                      <a:endParaRPr sz="17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6520" marR="160655">
                        <a:lnSpc>
                          <a:spcPct val="100000"/>
                        </a:lnSpc>
                        <a:spcBef>
                          <a:spcPts val="310"/>
                        </a:spcBef>
                      </a:pPr>
                      <a:r>
                        <a:rPr lang="en-IN" sz="1600" dirty="0">
                          <a:latin typeface="Times New Roman" panose="02020603050405020304" pitchFamily="18" charset="0"/>
                          <a:cs typeface="Times New Roman" panose="02020603050405020304" pitchFamily="18" charset="0"/>
                        </a:rPr>
                        <a:t>React, AWS, scalable</a:t>
                      </a:r>
                      <a:endParaRPr sz="1600" dirty="0">
                        <a:latin typeface="Times New Roman" panose="02020603050405020304" pitchFamily="18" charset="0"/>
                        <a:cs typeface="Times New Roman" panose="02020603050405020304" pitchFamily="18" charset="0"/>
                      </a:endParaRPr>
                    </a:p>
                  </a:txBody>
                  <a:tcPr marL="0" marR="0" marT="39370"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CF4E8"/>
                    </a:solidFill>
                  </a:tcPr>
                </a:tc>
                <a:extLst>
                  <a:ext uri="{0D108BD9-81ED-4DB2-BD59-A6C34878D82A}">
                    <a16:rowId xmlns:a16="http://schemas.microsoft.com/office/drawing/2014/main" val="10004"/>
                  </a:ext>
                </a:extLst>
              </a:tr>
              <a:tr h="510824">
                <a:tc>
                  <a:txBody>
                    <a:bodyPr/>
                    <a:lstStyle/>
                    <a:p>
                      <a:r>
                        <a:rPr>
                          <a:latin typeface="Times New Roman" panose="02020603050405020304" pitchFamily="18" charset="0"/>
                          <a:cs typeface="Times New Roman" panose="02020603050405020304" pitchFamily="18" charset="0"/>
                        </a:rPr>
                        <a:t>Data/Privacy</a:t>
                      </a:r>
                    </a:p>
                  </a:txBody>
                  <a:tcP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a:lnSpc>
                          <a:spcPct val="100000"/>
                        </a:lnSpc>
                      </a:pPr>
                      <a:r>
                        <a:rPr lang="en-US" sz="17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Govt servers</a:t>
                      </a:r>
                      <a:endParaRPr sz="1700" dirty="0">
                        <a:latin typeface="Times New Roman" panose="02020603050405020304" pitchFamily="18" charset="0"/>
                        <a:cs typeface="Times New Roman" panose="02020603050405020304" pitchFamily="18" charset="0"/>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DBE9CD"/>
                    </a:solidFill>
                  </a:tcPr>
                </a:tc>
                <a:tc>
                  <a:txBody>
                    <a:bodyPr/>
                    <a:lstStyle/>
                    <a:p>
                      <a:pPr>
                        <a:lnSpc>
                          <a:spcPct val="100000"/>
                        </a:lnSpc>
                      </a:pPr>
                      <a:r>
                        <a:rPr lang="en-IN" sz="1600" dirty="0">
                          <a:latin typeface="Times New Roman" panose="02020603050405020304" pitchFamily="18" charset="0"/>
                          <a:cs typeface="Times New Roman" panose="02020603050405020304" pitchFamily="18" charset="0"/>
                        </a:rPr>
                        <a:t> Proprietary cloud</a:t>
                      </a:r>
                      <a:endParaRPr sz="17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a:lnSpc>
                          <a:spcPct val="100000"/>
                        </a:lnSpc>
                      </a:pPr>
                      <a:r>
                        <a:rPr lang="en-IN" sz="1600" dirty="0">
                          <a:latin typeface="Times New Roman" panose="02020603050405020304" pitchFamily="18" charset="0"/>
                          <a:cs typeface="Times New Roman" panose="02020603050405020304" pitchFamily="18" charset="0"/>
                        </a:rPr>
                        <a:t>Basic encryption</a:t>
                      </a:r>
                      <a:endParaRPr sz="17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marL="96520" marR="421640">
                        <a:lnSpc>
                          <a:spcPct val="100000"/>
                        </a:lnSpc>
                        <a:spcBef>
                          <a:spcPts val="310"/>
                        </a:spcBef>
                      </a:pPr>
                      <a:r>
                        <a:rPr lang="en-IN" sz="1600" dirty="0">
                          <a:latin typeface="Times New Roman" panose="02020603050405020304" pitchFamily="18" charset="0"/>
                          <a:cs typeface="Times New Roman" panose="02020603050405020304" pitchFamily="18" charset="0"/>
                        </a:rPr>
                        <a:t>AES-256, HIPAA, RBAC</a:t>
                      </a:r>
                      <a:endParaRPr sz="1600" dirty="0">
                        <a:latin typeface="Times New Roman" panose="02020603050405020304" pitchFamily="18" charset="0"/>
                        <a:cs typeface="Times New Roman" panose="02020603050405020304" pitchFamily="18" charset="0"/>
                      </a:endParaRPr>
                    </a:p>
                  </a:txBody>
                  <a:tcPr marL="0" marR="0" marT="39370"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E9CD"/>
                    </a:solidFill>
                  </a:tcPr>
                </a:tc>
                <a:extLst>
                  <a:ext uri="{0D108BD9-81ED-4DB2-BD59-A6C34878D82A}">
                    <a16:rowId xmlns:a16="http://schemas.microsoft.com/office/drawing/2014/main" val="10005"/>
                  </a:ext>
                </a:extLst>
              </a:tr>
              <a:tr h="713774">
                <a:tc>
                  <a:txBody>
                    <a:bodyPr/>
                    <a:lstStyle/>
                    <a:p>
                      <a:r>
                        <a:rPr dirty="0">
                          <a:latin typeface="Times New Roman" panose="02020603050405020304" pitchFamily="18" charset="0"/>
                          <a:cs typeface="Times New Roman" panose="02020603050405020304" pitchFamily="18" charset="0"/>
                        </a:rPr>
                        <a:t>Known Limitations</a:t>
                      </a:r>
                    </a:p>
                  </a:txBody>
                  <a:tcPr>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CF4E8"/>
                    </a:solidFill>
                  </a:tcPr>
                </a:tc>
                <a:tc>
                  <a:txBody>
                    <a:bodyPr/>
                    <a:lstStyle/>
                    <a:p>
                      <a:pPr>
                        <a:buNone/>
                      </a:pPr>
                      <a:r>
                        <a:rPr lang="en-IN" dirty="0">
                          <a:latin typeface="Times New Roman" panose="02020603050405020304" pitchFamily="18" charset="0"/>
                          <a:cs typeface="Times New Roman" panose="02020603050405020304" pitchFamily="18" charset="0"/>
                        </a:rPr>
                        <a:t>Poor UI, low scale</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2710">
                        <a:lnSpc>
                          <a:spcPct val="100000"/>
                        </a:lnSpc>
                        <a:spcBef>
                          <a:spcPts val="320"/>
                        </a:spcBef>
                      </a:pPr>
                      <a:r>
                        <a:rPr lang="en-IN" sz="1600" dirty="0">
                          <a:latin typeface="Times New Roman" panose="02020603050405020304" pitchFamily="18" charset="0"/>
                          <a:cs typeface="Times New Roman" panose="02020603050405020304" pitchFamily="18" charset="0"/>
                        </a:rPr>
                        <a:t>Needs fast net</a:t>
                      </a:r>
                      <a:endParaRPr sz="1600" dirty="0">
                        <a:latin typeface="Times New Roman" panose="02020603050405020304" pitchFamily="18" charset="0"/>
                        <a:cs typeface="Times New Roman" panose="02020603050405020304" pitchFamily="18" charset="0"/>
                      </a:endParaRPr>
                    </a:p>
                  </a:txBody>
                  <a:tcPr marL="0" marR="0" marT="40640"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3345">
                        <a:lnSpc>
                          <a:spcPct val="100000"/>
                        </a:lnSpc>
                        <a:spcBef>
                          <a:spcPts val="320"/>
                        </a:spcBef>
                      </a:pPr>
                      <a:r>
                        <a:rPr lang="en-IN" sz="1600" dirty="0">
                          <a:latin typeface="Times New Roman" panose="02020603050405020304" pitchFamily="18" charset="0"/>
                          <a:cs typeface="Times New Roman" panose="02020603050405020304" pitchFamily="18" charset="0"/>
                        </a:rPr>
                        <a:t>No AI/consult</a:t>
                      </a:r>
                      <a:endParaRPr sz="1600" dirty="0">
                        <a:latin typeface="Times New Roman" panose="02020603050405020304" pitchFamily="18" charset="0"/>
                        <a:cs typeface="Times New Roman" panose="02020603050405020304" pitchFamily="18" charset="0"/>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6520">
                        <a:lnSpc>
                          <a:spcPct val="100000"/>
                        </a:lnSpc>
                        <a:spcBef>
                          <a:spcPts val="320"/>
                        </a:spcBef>
                      </a:pPr>
                      <a:r>
                        <a:rPr lang="en-IN" sz="1600" dirty="0">
                          <a:latin typeface="Times New Roman" panose="02020603050405020304" pitchFamily="18" charset="0"/>
                          <a:cs typeface="Times New Roman" panose="02020603050405020304" pitchFamily="18" charset="0"/>
                        </a:rPr>
                        <a:t>Offline, integrated AI &amp; EMR</a:t>
                      </a:r>
                      <a:endParaRPr sz="1600" dirty="0">
                        <a:latin typeface="Times New Roman" panose="02020603050405020304" pitchFamily="18" charset="0"/>
                        <a:cs typeface="Times New Roman" panose="02020603050405020304" pitchFamily="18" charset="0"/>
                      </a:endParaRPr>
                    </a:p>
                  </a:txBody>
                  <a:tcPr marL="0" marR="0" marT="40640"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CF4E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marR="5080">
              <a:lnSpc>
                <a:spcPct val="100000"/>
              </a:lnSpc>
              <a:spcBef>
                <a:spcPts val="100"/>
              </a:spcBef>
            </a:pPr>
            <a:r>
              <a:rPr dirty="0"/>
              <a:t>Our</a:t>
            </a:r>
            <a:r>
              <a:rPr spc="-55" dirty="0"/>
              <a:t> </a:t>
            </a:r>
            <a:r>
              <a:rPr dirty="0"/>
              <a:t>Unique</a:t>
            </a:r>
            <a:r>
              <a:rPr spc="-25" dirty="0"/>
              <a:t> </a:t>
            </a:r>
            <a:r>
              <a:rPr spc="-10" dirty="0"/>
              <a:t>Selling </a:t>
            </a:r>
            <a:r>
              <a:rPr spc="-25" dirty="0"/>
              <a:t>Proposition</a:t>
            </a:r>
            <a:r>
              <a:rPr spc="-220" dirty="0"/>
              <a:t> </a:t>
            </a:r>
            <a:r>
              <a:rPr spc="-10" dirty="0"/>
              <a:t>(USP)</a:t>
            </a:r>
          </a:p>
        </p:txBody>
      </p:sp>
      <p:sp>
        <p:nvSpPr>
          <p:cNvPr id="3" name="object 3"/>
          <p:cNvSpPr txBox="1"/>
          <p:nvPr/>
        </p:nvSpPr>
        <p:spPr>
          <a:xfrm>
            <a:off x="1066800" y="2201227"/>
            <a:ext cx="6574155" cy="4457631"/>
          </a:xfrm>
          <a:prstGeom prst="rect">
            <a:avLst/>
          </a:prstGeom>
        </p:spPr>
        <p:txBody>
          <a:bodyPr vert="horz" wrap="square" lIns="0" tIns="12700" rIns="0" bIns="0" rtlCol="0">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Value Prop:</a:t>
            </a:r>
            <a:r>
              <a:rPr lang="en-IN" dirty="0">
                <a:latin typeface="Times New Roman" panose="02020603050405020304" pitchFamily="18" charset="0"/>
                <a:cs typeface="Times New Roman" panose="02020603050405020304" pitchFamily="18" charset="0"/>
              </a:rPr>
              <a:t> Reliable, first-time-right healthcare access that saves time and money, even offline.</a:t>
            </a:r>
          </a:p>
          <a:p>
            <a:pPr marL="285750" indent="-285750">
              <a:buFont typeface="Wingdings" panose="05000000000000000000" pitchFamily="2" charset="2"/>
              <a:buChar char="ü"/>
            </a:pP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Differentiators: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1"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  Offline-First Core:</a:t>
            </a:r>
            <a:r>
              <a:rPr lang="en-IN" dirty="0">
                <a:latin typeface="Times New Roman" panose="02020603050405020304" pitchFamily="18" charset="0"/>
                <a:cs typeface="Times New Roman" panose="02020603050405020304" pitchFamily="18" charset="0"/>
              </a:rPr>
              <a:t> Health records &amp; symptom checker work without internet.</a:t>
            </a:r>
          </a:p>
          <a:p>
            <a:pPr marL="285750" lvl="1"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  Local Pharmacy Integration:</a:t>
            </a:r>
            <a:r>
              <a:rPr lang="en-IN" dirty="0">
                <a:latin typeface="Times New Roman" panose="02020603050405020304" pitchFamily="18" charset="0"/>
                <a:cs typeface="Times New Roman" panose="02020603050405020304" pitchFamily="18" charset="0"/>
              </a:rPr>
              <a:t> Real-time medicine stock updates for Nabha.</a:t>
            </a:r>
          </a:p>
          <a:p>
            <a:pPr marL="285750" lvl="1"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  Low-Bandwidth Optimized:</a:t>
            </a:r>
            <a:r>
              <a:rPr lang="en-IN" dirty="0">
                <a:latin typeface="Times New Roman" panose="02020603050405020304" pitchFamily="18" charset="0"/>
                <a:cs typeface="Times New Roman" panose="02020603050405020304" pitchFamily="18" charset="0"/>
              </a:rPr>
              <a:t> Lightweight app with Punjabi/Hindi voice UI.</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  Why Now:</a:t>
            </a:r>
            <a:r>
              <a:rPr lang="en-IN" dirty="0">
                <a:latin typeface="Times New Roman" panose="02020603050405020304" pitchFamily="18" charset="0"/>
                <a:cs typeface="Times New Roman" panose="02020603050405020304" pitchFamily="18" charset="0"/>
              </a:rPr>
              <a:t> Post-COVID telemedicine acceptance + documented Nabha crisis.</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 Feasibility:</a:t>
            </a:r>
            <a:r>
              <a:rPr lang="en-IN" dirty="0">
                <a:latin typeface="Times New Roman" panose="02020603050405020304" pitchFamily="18" charset="0"/>
                <a:cs typeface="Times New Roman" panose="02020603050405020304" pitchFamily="18" charset="0"/>
              </a:rPr>
              <a:t> Skills in Android dev, low-literacy UX. Data from partner pharmacy APIs/SMS.</a:t>
            </a:r>
          </a:p>
          <a:p>
            <a:pPr marL="12700">
              <a:lnSpc>
                <a:spcPct val="100000"/>
              </a:lnSpc>
              <a:spcBef>
                <a:spcPts val="100"/>
              </a:spcBef>
              <a:tabLst>
                <a:tab pos="356870" algn="l"/>
              </a:tabLst>
            </a:pPr>
            <a:endParaRPr sz="1800" dirty="0">
              <a:latin typeface="Trebuchet MS"/>
              <a:cs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253060"/>
            <a:ext cx="4883785" cy="574675"/>
          </a:xfrm>
          <a:prstGeom prst="rect">
            <a:avLst/>
          </a:prstGeom>
        </p:spPr>
        <p:txBody>
          <a:bodyPr vert="horz" wrap="square" lIns="0" tIns="12700" rIns="0" bIns="0" rtlCol="0">
            <a:spAutoFit/>
          </a:bodyPr>
          <a:lstStyle/>
          <a:p>
            <a:pPr marL="12700">
              <a:lnSpc>
                <a:spcPct val="100000"/>
              </a:lnSpc>
              <a:spcBef>
                <a:spcPts val="100"/>
              </a:spcBef>
            </a:pPr>
            <a:r>
              <a:rPr dirty="0"/>
              <a:t>Project</a:t>
            </a:r>
            <a:r>
              <a:rPr spc="-170" dirty="0"/>
              <a:t> </a:t>
            </a:r>
            <a:r>
              <a:rPr dirty="0"/>
              <a:t>Plan</a:t>
            </a:r>
            <a:r>
              <a:rPr spc="-150" dirty="0"/>
              <a:t> </a:t>
            </a:r>
            <a:r>
              <a:rPr dirty="0"/>
              <a:t>&amp;</a:t>
            </a:r>
            <a:r>
              <a:rPr spc="-204" dirty="0"/>
              <a:t> </a:t>
            </a:r>
            <a:r>
              <a:rPr spc="-10" dirty="0"/>
              <a:t>Timeline</a:t>
            </a:r>
          </a:p>
        </p:txBody>
      </p:sp>
      <p:graphicFrame>
        <p:nvGraphicFramePr>
          <p:cNvPr id="3" name="object 3"/>
          <p:cNvGraphicFramePr>
            <a:graphicFrameLocks noGrp="1"/>
          </p:cNvGraphicFramePr>
          <p:nvPr>
            <p:extLst>
              <p:ext uri="{D42A27DB-BD31-4B8C-83A1-F6EECF244321}">
                <p14:modId xmlns:p14="http://schemas.microsoft.com/office/powerpoint/2010/main" val="2021508026"/>
              </p:ext>
            </p:extLst>
          </p:nvPr>
        </p:nvGraphicFramePr>
        <p:xfrm>
          <a:off x="381000" y="947419"/>
          <a:ext cx="8077200" cy="5631598"/>
        </p:xfrm>
        <a:graphic>
          <a:graphicData uri="http://schemas.openxmlformats.org/drawingml/2006/table">
            <a:tbl>
              <a:tblPr firstRow="1" bandRow="1">
                <a:tableStyleId>{2D5ABB26-0587-4C30-8999-92F81FD0307C}</a:tableStyleId>
              </a:tblPr>
              <a:tblGrid>
                <a:gridCol w="2019300">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gridCol w="2019300">
                  <a:extLst>
                    <a:ext uri="{9D8B030D-6E8A-4147-A177-3AD203B41FA5}">
                      <a16:colId xmlns:a16="http://schemas.microsoft.com/office/drawing/2014/main" val="20002"/>
                    </a:ext>
                  </a:extLst>
                </a:gridCol>
                <a:gridCol w="2019300">
                  <a:extLst>
                    <a:ext uri="{9D8B030D-6E8A-4147-A177-3AD203B41FA5}">
                      <a16:colId xmlns:a16="http://schemas.microsoft.com/office/drawing/2014/main" val="20003"/>
                    </a:ext>
                  </a:extLst>
                </a:gridCol>
              </a:tblGrid>
              <a:tr h="692369">
                <a:tc>
                  <a:txBody>
                    <a:bodyPr/>
                    <a:lstStyle/>
                    <a:p>
                      <a:pPr marL="91440">
                        <a:lnSpc>
                          <a:spcPct val="100000"/>
                        </a:lnSpc>
                        <a:spcBef>
                          <a:spcPts val="270"/>
                        </a:spcBef>
                      </a:pPr>
                      <a:r>
                        <a:rPr sz="1800" b="1" spc="-10" dirty="0">
                          <a:solidFill>
                            <a:srgbClr val="FFFFFF"/>
                          </a:solidFill>
                          <a:latin typeface="Times New Roman" panose="02020603050405020304" pitchFamily="18" charset="0"/>
                          <a:cs typeface="Times New Roman" panose="02020603050405020304" pitchFamily="18" charset="0"/>
                        </a:rPr>
                        <a:t>Phase</a:t>
                      </a:r>
                      <a:endParaRPr sz="1800">
                        <a:latin typeface="Times New Roman" panose="02020603050405020304" pitchFamily="18" charset="0"/>
                        <a:cs typeface="Times New Roman" panose="02020603050405020304" pitchFamily="18" charset="0"/>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4"/>
                    </a:solidFill>
                  </a:tcPr>
                </a:tc>
                <a:tc>
                  <a:txBody>
                    <a:bodyPr/>
                    <a:lstStyle/>
                    <a:p>
                      <a:pPr marL="92075">
                        <a:lnSpc>
                          <a:spcPct val="100000"/>
                        </a:lnSpc>
                        <a:spcBef>
                          <a:spcPts val="270"/>
                        </a:spcBef>
                      </a:pPr>
                      <a:r>
                        <a:rPr sz="1800" b="1" spc="-10" dirty="0">
                          <a:solidFill>
                            <a:srgbClr val="FFFFFF"/>
                          </a:solidFill>
                          <a:latin typeface="Times New Roman" panose="02020603050405020304" pitchFamily="18" charset="0"/>
                          <a:cs typeface="Times New Roman" panose="02020603050405020304" pitchFamily="18" charset="0"/>
                        </a:rPr>
                        <a:t>Start–End</a:t>
                      </a:r>
                      <a:endParaRPr sz="1800">
                        <a:latin typeface="Times New Roman" panose="02020603050405020304" pitchFamily="18" charset="0"/>
                        <a:cs typeface="Times New Roman" panose="02020603050405020304" pitchFamily="18" charset="0"/>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4"/>
                    </a:solidFill>
                  </a:tcPr>
                </a:tc>
                <a:tc>
                  <a:txBody>
                    <a:bodyPr/>
                    <a:lstStyle/>
                    <a:p>
                      <a:pPr marL="92710">
                        <a:lnSpc>
                          <a:spcPct val="100000"/>
                        </a:lnSpc>
                        <a:spcBef>
                          <a:spcPts val="270"/>
                        </a:spcBef>
                      </a:pPr>
                      <a:r>
                        <a:rPr sz="1800" b="1" spc="-10" dirty="0">
                          <a:solidFill>
                            <a:srgbClr val="FFFFFF"/>
                          </a:solidFill>
                          <a:latin typeface="Times New Roman" panose="02020603050405020304" pitchFamily="18" charset="0"/>
                          <a:cs typeface="Times New Roman" panose="02020603050405020304" pitchFamily="18" charset="0"/>
                        </a:rPr>
                        <a:t>Milestones/Deliv</a:t>
                      </a:r>
                      <a:endParaRPr sz="1800">
                        <a:latin typeface="Times New Roman" panose="02020603050405020304" pitchFamily="18" charset="0"/>
                        <a:cs typeface="Times New Roman" panose="02020603050405020304" pitchFamily="18" charset="0"/>
                      </a:endParaRPr>
                    </a:p>
                    <a:p>
                      <a:pPr marL="92710">
                        <a:lnSpc>
                          <a:spcPct val="100000"/>
                        </a:lnSpc>
                      </a:pPr>
                      <a:r>
                        <a:rPr sz="1800" b="1" spc="-10" dirty="0">
                          <a:solidFill>
                            <a:srgbClr val="FFFFFF"/>
                          </a:solidFill>
                          <a:latin typeface="Times New Roman" panose="02020603050405020304" pitchFamily="18" charset="0"/>
                          <a:cs typeface="Times New Roman" panose="02020603050405020304" pitchFamily="18" charset="0"/>
                        </a:rPr>
                        <a:t>erables</a:t>
                      </a:r>
                      <a:endParaRPr sz="1800">
                        <a:latin typeface="Times New Roman" panose="02020603050405020304" pitchFamily="18" charset="0"/>
                        <a:cs typeface="Times New Roman" panose="02020603050405020304" pitchFamily="18" charset="0"/>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4"/>
                    </a:solidFill>
                  </a:tcPr>
                </a:tc>
                <a:tc>
                  <a:txBody>
                    <a:bodyPr/>
                    <a:lstStyle/>
                    <a:p>
                      <a:pPr marL="96520">
                        <a:lnSpc>
                          <a:spcPct val="100000"/>
                        </a:lnSpc>
                        <a:spcBef>
                          <a:spcPts val="270"/>
                        </a:spcBef>
                      </a:pPr>
                      <a:r>
                        <a:rPr sz="1800" b="1" dirty="0">
                          <a:solidFill>
                            <a:srgbClr val="FFFFFF"/>
                          </a:solidFill>
                          <a:latin typeface="Times New Roman" panose="02020603050405020304" pitchFamily="18" charset="0"/>
                          <a:cs typeface="Times New Roman" panose="02020603050405020304" pitchFamily="18" charset="0"/>
                        </a:rPr>
                        <a:t>Evidence</a:t>
                      </a:r>
                      <a:r>
                        <a:rPr sz="1800" b="1" spc="-120" dirty="0">
                          <a:solidFill>
                            <a:srgbClr val="FFFFFF"/>
                          </a:solidFill>
                          <a:latin typeface="Times New Roman" panose="02020603050405020304" pitchFamily="18" charset="0"/>
                          <a:cs typeface="Times New Roman" panose="02020603050405020304" pitchFamily="18" charset="0"/>
                        </a:rPr>
                        <a:t> </a:t>
                      </a:r>
                      <a:r>
                        <a:rPr sz="1800" b="1" spc="-25" dirty="0">
                          <a:solidFill>
                            <a:srgbClr val="FFFFFF"/>
                          </a:solidFill>
                          <a:latin typeface="Times New Roman" panose="02020603050405020304" pitchFamily="18" charset="0"/>
                          <a:cs typeface="Times New Roman" panose="02020603050405020304" pitchFamily="18" charset="0"/>
                        </a:rPr>
                        <a:t>of</a:t>
                      </a:r>
                      <a:endParaRPr sz="1800">
                        <a:latin typeface="Times New Roman" panose="02020603050405020304" pitchFamily="18" charset="0"/>
                        <a:cs typeface="Times New Roman" panose="02020603050405020304" pitchFamily="18" charset="0"/>
                      </a:endParaRPr>
                    </a:p>
                    <a:p>
                      <a:pPr marL="96520">
                        <a:lnSpc>
                          <a:spcPct val="100000"/>
                        </a:lnSpc>
                      </a:pPr>
                      <a:r>
                        <a:rPr sz="1800" b="1" spc="-10" dirty="0">
                          <a:solidFill>
                            <a:srgbClr val="FFFFFF"/>
                          </a:solidFill>
                          <a:latin typeface="Times New Roman" panose="02020603050405020304" pitchFamily="18" charset="0"/>
                          <a:cs typeface="Times New Roman" panose="02020603050405020304" pitchFamily="18" charset="0"/>
                        </a:rPr>
                        <a:t>Validation</a:t>
                      </a:r>
                      <a:endParaRPr sz="1800">
                        <a:latin typeface="Times New Roman" panose="02020603050405020304" pitchFamily="18" charset="0"/>
                        <a:cs typeface="Times New Roman" panose="02020603050405020304" pitchFamily="18" charset="0"/>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4"/>
                    </a:solidFill>
                  </a:tcPr>
                </a:tc>
                <a:extLst>
                  <a:ext uri="{0D108BD9-81ED-4DB2-BD59-A6C34878D82A}">
                    <a16:rowId xmlns:a16="http://schemas.microsoft.com/office/drawing/2014/main" val="10000"/>
                  </a:ext>
                </a:extLst>
              </a:tr>
              <a:tr h="692882">
                <a:tc>
                  <a:txBody>
                    <a:bodyPr/>
                    <a:lstStyle/>
                    <a:p>
                      <a:pPr marL="91440">
                        <a:lnSpc>
                          <a:spcPct val="100000"/>
                        </a:lnSpc>
                        <a:spcBef>
                          <a:spcPts val="275"/>
                        </a:spcBef>
                      </a:pPr>
                      <a:r>
                        <a:rPr sz="1800" spc="-10" dirty="0">
                          <a:latin typeface="Times New Roman" panose="02020603050405020304" pitchFamily="18" charset="0"/>
                          <a:cs typeface="Times New Roman" panose="02020603050405020304" pitchFamily="18" charset="0"/>
                        </a:rPr>
                        <a:t>Problem</a:t>
                      </a:r>
                      <a:endParaRPr sz="1800">
                        <a:latin typeface="Times New Roman" panose="02020603050405020304" pitchFamily="18" charset="0"/>
                        <a:cs typeface="Times New Roman" panose="02020603050405020304" pitchFamily="18" charset="0"/>
                      </a:endParaRPr>
                    </a:p>
                    <a:p>
                      <a:pPr marL="91440">
                        <a:lnSpc>
                          <a:spcPct val="100000"/>
                        </a:lnSpc>
                        <a:spcBef>
                          <a:spcPts val="5"/>
                        </a:spcBef>
                      </a:pPr>
                      <a:r>
                        <a:rPr sz="1800" spc="-10" dirty="0">
                          <a:latin typeface="Times New Roman" panose="02020603050405020304" pitchFamily="18" charset="0"/>
                          <a:cs typeface="Times New Roman" panose="02020603050405020304" pitchFamily="18" charset="0"/>
                        </a:rPr>
                        <a:t>Validation</a:t>
                      </a:r>
                      <a:endParaRPr sz="1800">
                        <a:latin typeface="Times New Roman" panose="02020603050405020304" pitchFamily="18" charset="0"/>
                        <a:cs typeface="Times New Roman" panose="02020603050405020304" pitchFamily="18" charset="0"/>
                      </a:endParaRPr>
                    </a:p>
                  </a:txBody>
                  <a:tcPr marL="0" marR="0" marT="3492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2075">
                        <a:lnSpc>
                          <a:spcPct val="100000"/>
                        </a:lnSpc>
                        <a:spcBef>
                          <a:spcPts val="275"/>
                        </a:spcBef>
                      </a:pPr>
                      <a:r>
                        <a:rPr sz="1800" spc="-45" dirty="0">
                          <a:latin typeface="Times New Roman" panose="02020603050405020304" pitchFamily="18" charset="0"/>
                          <a:cs typeface="Times New Roman" panose="02020603050405020304" pitchFamily="18" charset="0"/>
                        </a:rPr>
                        <a:t>01-</a:t>
                      </a:r>
                      <a:r>
                        <a:rPr sz="1800" dirty="0">
                          <a:latin typeface="Times New Roman" panose="02020603050405020304" pitchFamily="18" charset="0"/>
                          <a:cs typeface="Times New Roman" panose="02020603050405020304" pitchFamily="18" charset="0"/>
                        </a:rPr>
                        <a:t>Oct</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120"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15-</a:t>
                      </a:r>
                      <a:r>
                        <a:rPr sz="1800" spc="-25" dirty="0">
                          <a:latin typeface="Times New Roman" panose="02020603050405020304" pitchFamily="18" charset="0"/>
                          <a:cs typeface="Times New Roman" panose="02020603050405020304" pitchFamily="18" charset="0"/>
                        </a:rPr>
                        <a:t>Oct</a:t>
                      </a:r>
                      <a:endParaRPr sz="1800">
                        <a:latin typeface="Times New Roman" panose="02020603050405020304" pitchFamily="18" charset="0"/>
                        <a:cs typeface="Times New Roman" panose="02020603050405020304" pitchFamily="18" charset="0"/>
                      </a:endParaRPr>
                    </a:p>
                  </a:txBody>
                  <a:tcPr marL="0" marR="0" marT="3492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2710">
                        <a:lnSpc>
                          <a:spcPct val="100000"/>
                        </a:lnSpc>
                        <a:spcBef>
                          <a:spcPts val="275"/>
                        </a:spcBef>
                      </a:pPr>
                      <a:r>
                        <a:rPr lang="en-US" dirty="0">
                          <a:latin typeface="Times New Roman" panose="02020603050405020304" pitchFamily="18" charset="0"/>
                          <a:cs typeface="Times New Roman" panose="02020603050405020304" pitchFamily="18" charset="0"/>
                        </a:rPr>
                        <a:t>Identify rural healthcare gaps in Nabha</a:t>
                      </a:r>
                      <a:endParaRPr sz="1800" dirty="0">
                        <a:latin typeface="Times New Roman" panose="02020603050405020304" pitchFamily="18" charset="0"/>
                        <a:cs typeface="Times New Roman" panose="02020603050405020304" pitchFamily="18" charset="0"/>
                      </a:endParaRPr>
                    </a:p>
                  </a:txBody>
                  <a:tcPr marL="0" marR="0" marT="3492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6520">
                        <a:lnSpc>
                          <a:spcPct val="100000"/>
                        </a:lnSpc>
                        <a:spcBef>
                          <a:spcPts val="275"/>
                        </a:spcBef>
                      </a:pPr>
                      <a:r>
                        <a:rPr lang="en-US" dirty="0">
                          <a:latin typeface="Times New Roman" panose="02020603050405020304" pitchFamily="18" charset="0"/>
                          <a:cs typeface="Times New Roman" panose="02020603050405020304" pitchFamily="18" charset="0"/>
                        </a:rPr>
                        <a:t>Interviews with villagers, ASHA workers</a:t>
                      </a:r>
                      <a:endParaRPr sz="1800" dirty="0">
                        <a:latin typeface="Times New Roman" panose="02020603050405020304" pitchFamily="18" charset="0"/>
                        <a:cs typeface="Times New Roman" panose="02020603050405020304" pitchFamily="18" charset="0"/>
                      </a:endParaRPr>
                    </a:p>
                  </a:txBody>
                  <a:tcPr marL="0" marR="0" marT="3492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extLst>
                  <a:ext uri="{0D108BD9-81ED-4DB2-BD59-A6C34878D82A}">
                    <a16:rowId xmlns:a16="http://schemas.microsoft.com/office/drawing/2014/main" val="10001"/>
                  </a:ext>
                </a:extLst>
              </a:tr>
              <a:tr h="914953">
                <a:tc>
                  <a:txBody>
                    <a:bodyPr/>
                    <a:lstStyle/>
                    <a:p>
                      <a:pPr marL="91440">
                        <a:lnSpc>
                          <a:spcPct val="100000"/>
                        </a:lnSpc>
                        <a:spcBef>
                          <a:spcPts val="280"/>
                        </a:spcBef>
                      </a:pPr>
                      <a:r>
                        <a:rPr sz="1800" spc="-10" dirty="0">
                          <a:latin typeface="Times New Roman" panose="02020603050405020304" pitchFamily="18" charset="0"/>
                          <a:cs typeface="Times New Roman" panose="02020603050405020304" pitchFamily="18" charset="0"/>
                        </a:rPr>
                        <a:t>Ideation</a:t>
                      </a:r>
                      <a:endParaRPr sz="1800">
                        <a:latin typeface="Times New Roman" panose="02020603050405020304" pitchFamily="18" charset="0"/>
                        <a:cs typeface="Times New Roman" panose="02020603050405020304" pitchFamily="18" charset="0"/>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2075">
                        <a:lnSpc>
                          <a:spcPct val="100000"/>
                        </a:lnSpc>
                        <a:spcBef>
                          <a:spcPts val="280"/>
                        </a:spcBef>
                      </a:pPr>
                      <a:r>
                        <a:rPr sz="1800" spc="-45" dirty="0">
                          <a:latin typeface="Times New Roman" panose="02020603050405020304" pitchFamily="18" charset="0"/>
                          <a:cs typeface="Times New Roman" panose="02020603050405020304" pitchFamily="18" charset="0"/>
                        </a:rPr>
                        <a:t>16-</a:t>
                      </a:r>
                      <a:r>
                        <a:rPr sz="1800" dirty="0">
                          <a:latin typeface="Times New Roman" panose="02020603050405020304" pitchFamily="18" charset="0"/>
                          <a:cs typeface="Times New Roman" panose="02020603050405020304" pitchFamily="18" charset="0"/>
                        </a:rPr>
                        <a:t>Oct</a:t>
                      </a:r>
                      <a:r>
                        <a:rPr sz="1800" spc="3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120"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15-</a:t>
                      </a:r>
                      <a:r>
                        <a:rPr sz="1800" spc="-25" dirty="0">
                          <a:latin typeface="Times New Roman" panose="02020603050405020304" pitchFamily="18" charset="0"/>
                          <a:cs typeface="Times New Roman" panose="02020603050405020304" pitchFamily="18" charset="0"/>
                        </a:rPr>
                        <a:t>Nov</a:t>
                      </a:r>
                      <a:endParaRPr sz="1800">
                        <a:latin typeface="Times New Roman" panose="02020603050405020304" pitchFamily="18" charset="0"/>
                        <a:cs typeface="Times New Roman" panose="02020603050405020304" pitchFamily="18" charset="0"/>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2710">
                        <a:lnSpc>
                          <a:spcPct val="100000"/>
                        </a:lnSpc>
                        <a:spcBef>
                          <a:spcPts val="280"/>
                        </a:spcBef>
                      </a:pPr>
                      <a:r>
                        <a:rPr lang="en-IN" dirty="0">
                          <a:latin typeface="Times New Roman" panose="02020603050405020304" pitchFamily="18" charset="0"/>
                          <a:cs typeface="Times New Roman" panose="02020603050405020304" pitchFamily="18" charset="0"/>
                        </a:rPr>
                        <a:t>Define key features</a:t>
                      </a:r>
                      <a:endParaRPr sz="1800" dirty="0">
                        <a:latin typeface="Times New Roman" panose="02020603050405020304" pitchFamily="18" charset="0"/>
                        <a:cs typeface="Times New Roman" panose="02020603050405020304" pitchFamily="18" charset="0"/>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6520">
                        <a:lnSpc>
                          <a:spcPct val="100000"/>
                        </a:lnSpc>
                        <a:spcBef>
                          <a:spcPts val="280"/>
                        </a:spcBef>
                      </a:pPr>
                      <a:r>
                        <a:rPr lang="en-US" dirty="0">
                          <a:latin typeface="Times New Roman" panose="02020603050405020304" pitchFamily="18" charset="0"/>
                          <a:cs typeface="Times New Roman" panose="02020603050405020304" pitchFamily="18" charset="0"/>
                        </a:rPr>
                        <a:t>Brainstorming with mentors, domain experts</a:t>
                      </a:r>
                      <a:endParaRPr sz="1800" dirty="0">
                        <a:latin typeface="Times New Roman" panose="02020603050405020304" pitchFamily="18" charset="0"/>
                        <a:cs typeface="Times New Roman" panose="02020603050405020304" pitchFamily="18" charset="0"/>
                      </a:endParaRPr>
                    </a:p>
                  </a:txBody>
                  <a:tcPr marL="0" marR="0" marT="355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extLst>
                  <a:ext uri="{0D108BD9-81ED-4DB2-BD59-A6C34878D82A}">
                    <a16:rowId xmlns:a16="http://schemas.microsoft.com/office/drawing/2014/main" val="10002"/>
                  </a:ext>
                </a:extLst>
              </a:tr>
              <a:tr h="915465">
                <a:tc>
                  <a:txBody>
                    <a:bodyPr/>
                    <a:lstStyle/>
                    <a:p>
                      <a:pPr marL="91440">
                        <a:lnSpc>
                          <a:spcPct val="100000"/>
                        </a:lnSpc>
                        <a:spcBef>
                          <a:spcPts val="284"/>
                        </a:spcBef>
                      </a:pPr>
                      <a:r>
                        <a:rPr sz="1800" dirty="0">
                          <a:latin typeface="Times New Roman" panose="02020603050405020304" pitchFamily="18" charset="0"/>
                          <a:cs typeface="Times New Roman" panose="02020603050405020304" pitchFamily="18" charset="0"/>
                        </a:rPr>
                        <a:t>Proof</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of</a:t>
                      </a:r>
                      <a:r>
                        <a:rPr sz="1800" spc="-95"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Concept</a:t>
                      </a:r>
                      <a:endParaRPr sz="1800">
                        <a:latin typeface="Times New Roman" panose="02020603050405020304" pitchFamily="18" charset="0"/>
                        <a:cs typeface="Times New Roman" panose="02020603050405020304" pitchFamily="18" charset="0"/>
                      </a:endParaRPr>
                    </a:p>
                    <a:p>
                      <a:pPr marL="91440">
                        <a:lnSpc>
                          <a:spcPct val="100000"/>
                        </a:lnSpc>
                      </a:pPr>
                      <a:r>
                        <a:rPr sz="1800" spc="-10" dirty="0">
                          <a:latin typeface="Times New Roman" panose="02020603050405020304" pitchFamily="18" charset="0"/>
                          <a:cs typeface="Times New Roman" panose="02020603050405020304" pitchFamily="18" charset="0"/>
                        </a:rPr>
                        <a:t>(PoC)</a:t>
                      </a:r>
                      <a:endParaRPr sz="1800">
                        <a:latin typeface="Times New Roman" panose="02020603050405020304" pitchFamily="18" charset="0"/>
                        <a:cs typeface="Times New Roman" panose="02020603050405020304" pitchFamily="18" charset="0"/>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marL="92075">
                        <a:lnSpc>
                          <a:spcPct val="100000"/>
                        </a:lnSpc>
                        <a:spcBef>
                          <a:spcPts val="284"/>
                        </a:spcBef>
                      </a:pPr>
                      <a:r>
                        <a:rPr sz="1800" spc="-45" dirty="0">
                          <a:latin typeface="Times New Roman" panose="02020603050405020304" pitchFamily="18" charset="0"/>
                          <a:cs typeface="Times New Roman" panose="02020603050405020304" pitchFamily="18" charset="0"/>
                        </a:rPr>
                        <a:t>16-</a:t>
                      </a:r>
                      <a:r>
                        <a:rPr sz="1800" dirty="0">
                          <a:latin typeface="Times New Roman" panose="02020603050405020304" pitchFamily="18" charset="0"/>
                          <a:cs typeface="Times New Roman" panose="02020603050405020304" pitchFamily="18" charset="0"/>
                        </a:rPr>
                        <a:t>Nov</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90"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15-</a:t>
                      </a:r>
                      <a:r>
                        <a:rPr sz="1800" spc="-25" dirty="0">
                          <a:latin typeface="Times New Roman" panose="02020603050405020304" pitchFamily="18" charset="0"/>
                          <a:cs typeface="Times New Roman" panose="02020603050405020304" pitchFamily="18" charset="0"/>
                        </a:rPr>
                        <a:t>Dec</a:t>
                      </a:r>
                      <a:endParaRPr sz="1800">
                        <a:latin typeface="Times New Roman" panose="02020603050405020304" pitchFamily="18" charset="0"/>
                        <a:cs typeface="Times New Roman" panose="02020603050405020304" pitchFamily="18" charset="0"/>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marL="92710">
                        <a:lnSpc>
                          <a:spcPct val="100000"/>
                        </a:lnSpc>
                        <a:spcBef>
                          <a:spcPts val="284"/>
                        </a:spcBef>
                      </a:pPr>
                      <a:r>
                        <a:rPr lang="en-US" dirty="0">
                          <a:latin typeface="Times New Roman" panose="02020603050405020304" pitchFamily="18" charset="0"/>
                          <a:cs typeface="Times New Roman" panose="02020603050405020304" pitchFamily="18" charset="0"/>
                        </a:rPr>
                        <a:t>Demo of AI symptom checker + EMR UI</a:t>
                      </a:r>
                      <a:endParaRPr sz="1800" dirty="0">
                        <a:latin typeface="Times New Roman" panose="02020603050405020304" pitchFamily="18" charset="0"/>
                        <a:cs typeface="Times New Roman" panose="02020603050405020304" pitchFamily="18" charset="0"/>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marL="96520">
                        <a:lnSpc>
                          <a:spcPct val="100000"/>
                        </a:lnSpc>
                        <a:spcBef>
                          <a:spcPts val="284"/>
                        </a:spcBef>
                      </a:pPr>
                      <a:r>
                        <a:rPr lang="en-US" dirty="0">
                          <a:latin typeface="Times New Roman" panose="02020603050405020304" pitchFamily="18" charset="0"/>
                          <a:cs typeface="Times New Roman" panose="02020603050405020304" pitchFamily="18" charset="0"/>
                        </a:rPr>
                        <a:t>Feedback from rural health volunteers</a:t>
                      </a:r>
                      <a:endParaRPr sz="1800" dirty="0">
                        <a:latin typeface="Times New Roman" panose="02020603050405020304" pitchFamily="18" charset="0"/>
                        <a:cs typeface="Times New Roman" panose="02020603050405020304" pitchFamily="18" charset="0"/>
                      </a:endParaRPr>
                    </a:p>
                  </a:txBody>
                  <a:tcPr marL="0" marR="0" marT="3619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extLst>
                  <a:ext uri="{0D108BD9-81ED-4DB2-BD59-A6C34878D82A}">
                    <a16:rowId xmlns:a16="http://schemas.microsoft.com/office/drawing/2014/main" val="10003"/>
                  </a:ext>
                </a:extLst>
              </a:tr>
              <a:tr h="915978">
                <a:tc>
                  <a:txBody>
                    <a:bodyPr/>
                    <a:lstStyle/>
                    <a:p>
                      <a:pPr marL="91440">
                        <a:lnSpc>
                          <a:spcPct val="100000"/>
                        </a:lnSpc>
                        <a:spcBef>
                          <a:spcPts val="290"/>
                        </a:spcBef>
                      </a:pPr>
                      <a:r>
                        <a:rPr sz="1800" spc="-10" dirty="0">
                          <a:latin typeface="Times New Roman" panose="02020603050405020304" pitchFamily="18" charset="0"/>
                          <a:cs typeface="Times New Roman" panose="02020603050405020304" pitchFamily="18" charset="0"/>
                        </a:rPr>
                        <a:t>Prototype</a:t>
                      </a:r>
                      <a:endParaRPr sz="1800">
                        <a:latin typeface="Times New Roman" panose="02020603050405020304" pitchFamily="18" charset="0"/>
                        <a:cs typeface="Times New Roman" panose="02020603050405020304" pitchFamily="18" charset="0"/>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2075">
                        <a:lnSpc>
                          <a:spcPct val="100000"/>
                        </a:lnSpc>
                        <a:spcBef>
                          <a:spcPts val="290"/>
                        </a:spcBef>
                      </a:pPr>
                      <a:r>
                        <a:rPr sz="1800" spc="-45" dirty="0">
                          <a:latin typeface="Times New Roman" panose="02020603050405020304" pitchFamily="18" charset="0"/>
                          <a:cs typeface="Times New Roman" panose="02020603050405020304" pitchFamily="18" charset="0"/>
                        </a:rPr>
                        <a:t>16-</a:t>
                      </a:r>
                      <a:r>
                        <a:rPr sz="1800" dirty="0">
                          <a:latin typeface="Times New Roman" panose="02020603050405020304" pitchFamily="18" charset="0"/>
                          <a:cs typeface="Times New Roman" panose="02020603050405020304" pitchFamily="18" charset="0"/>
                        </a:rPr>
                        <a:t>Dec</a:t>
                      </a:r>
                      <a:r>
                        <a:rPr sz="1800" spc="7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90"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15-</a:t>
                      </a:r>
                      <a:r>
                        <a:rPr sz="1800" spc="-25" dirty="0">
                          <a:latin typeface="Times New Roman" panose="02020603050405020304" pitchFamily="18" charset="0"/>
                          <a:cs typeface="Times New Roman" panose="02020603050405020304" pitchFamily="18" charset="0"/>
                        </a:rPr>
                        <a:t>Jan</a:t>
                      </a:r>
                      <a:endParaRPr sz="1800">
                        <a:latin typeface="Times New Roman" panose="02020603050405020304" pitchFamily="18" charset="0"/>
                        <a:cs typeface="Times New Roman" panose="02020603050405020304" pitchFamily="18" charset="0"/>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2710">
                        <a:lnSpc>
                          <a:spcPct val="100000"/>
                        </a:lnSpc>
                        <a:spcBef>
                          <a:spcPts val="290"/>
                        </a:spcBef>
                      </a:pPr>
                      <a:r>
                        <a:rPr lang="en-US" dirty="0">
                          <a:latin typeface="Times New Roman" panose="02020603050405020304" pitchFamily="18" charset="0"/>
                          <a:cs typeface="Times New Roman" panose="02020603050405020304" pitchFamily="18" charset="0"/>
                        </a:rPr>
                        <a:t>Working version with video consults &amp; patient app</a:t>
                      </a:r>
                      <a:endParaRPr sz="1800" dirty="0">
                        <a:latin typeface="Times New Roman" panose="02020603050405020304" pitchFamily="18" charset="0"/>
                        <a:cs typeface="Times New Roman" panose="02020603050405020304" pitchFamily="18" charset="0"/>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6520">
                        <a:lnSpc>
                          <a:spcPct val="100000"/>
                        </a:lnSpc>
                        <a:spcBef>
                          <a:spcPts val="290"/>
                        </a:spcBef>
                      </a:pPr>
                      <a:r>
                        <a:rPr lang="en-US" dirty="0">
                          <a:latin typeface="Times New Roman" panose="02020603050405020304" pitchFamily="18" charset="0"/>
                          <a:cs typeface="Times New Roman" panose="02020603050405020304" pitchFamily="18" charset="0"/>
                        </a:rPr>
                        <a:t>Usability testing with beta users</a:t>
                      </a:r>
                      <a:endParaRPr sz="1800" dirty="0">
                        <a:latin typeface="Times New Roman" panose="02020603050405020304" pitchFamily="18" charset="0"/>
                        <a:cs typeface="Times New Roman" panose="02020603050405020304" pitchFamily="18" charset="0"/>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extLst>
                  <a:ext uri="{0D108BD9-81ED-4DB2-BD59-A6C34878D82A}">
                    <a16:rowId xmlns:a16="http://schemas.microsoft.com/office/drawing/2014/main" val="10004"/>
                  </a:ext>
                </a:extLst>
              </a:tr>
              <a:tr h="695446">
                <a:tc>
                  <a:txBody>
                    <a:bodyPr/>
                    <a:lstStyle/>
                    <a:p>
                      <a:pPr marL="91440">
                        <a:lnSpc>
                          <a:spcPct val="100000"/>
                        </a:lnSpc>
                        <a:spcBef>
                          <a:spcPts val="300"/>
                        </a:spcBef>
                      </a:pPr>
                      <a:r>
                        <a:rPr sz="1800" dirty="0">
                          <a:latin typeface="Times New Roman" panose="02020603050405020304" pitchFamily="18" charset="0"/>
                          <a:cs typeface="Times New Roman" panose="02020603050405020304" pitchFamily="18" charset="0"/>
                        </a:rPr>
                        <a:t>Minimum</a:t>
                      </a:r>
                      <a:r>
                        <a:rPr sz="1800" spc="-13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Viable</a:t>
                      </a:r>
                      <a:endParaRPr sz="1800">
                        <a:latin typeface="Times New Roman" panose="02020603050405020304" pitchFamily="18" charset="0"/>
                        <a:cs typeface="Times New Roman" panose="02020603050405020304" pitchFamily="18" charset="0"/>
                      </a:endParaRPr>
                    </a:p>
                    <a:p>
                      <a:pPr marL="91440">
                        <a:lnSpc>
                          <a:spcPct val="100000"/>
                        </a:lnSpc>
                      </a:pPr>
                      <a:r>
                        <a:rPr sz="1800" spc="-10" dirty="0">
                          <a:latin typeface="Times New Roman" panose="02020603050405020304" pitchFamily="18" charset="0"/>
                          <a:cs typeface="Times New Roman" panose="02020603050405020304" pitchFamily="18" charset="0"/>
                        </a:rPr>
                        <a:t>Product</a:t>
                      </a:r>
                      <a:r>
                        <a:rPr sz="1800" spc="-110" dirty="0">
                          <a:latin typeface="Times New Roman" panose="02020603050405020304" pitchFamily="18" charset="0"/>
                          <a:cs typeface="Times New Roman" panose="02020603050405020304" pitchFamily="18" charset="0"/>
                        </a:rPr>
                        <a:t> </a:t>
                      </a:r>
                      <a:r>
                        <a:rPr sz="1800" spc="-20" dirty="0">
                          <a:latin typeface="Times New Roman" panose="02020603050405020304" pitchFamily="18" charset="0"/>
                          <a:cs typeface="Times New Roman" panose="02020603050405020304" pitchFamily="18" charset="0"/>
                        </a:rPr>
                        <a:t>(MVP)</a:t>
                      </a:r>
                      <a:endParaRPr sz="1800">
                        <a:latin typeface="Times New Roman" panose="02020603050405020304" pitchFamily="18" charset="0"/>
                        <a:cs typeface="Times New Roman" panose="02020603050405020304" pitchFamily="18" charset="0"/>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marL="92075">
                        <a:lnSpc>
                          <a:spcPct val="100000"/>
                        </a:lnSpc>
                        <a:spcBef>
                          <a:spcPts val="300"/>
                        </a:spcBef>
                      </a:pPr>
                      <a:r>
                        <a:rPr sz="1800" spc="-45" dirty="0">
                          <a:latin typeface="Times New Roman" panose="02020603050405020304" pitchFamily="18" charset="0"/>
                          <a:cs typeface="Times New Roman" panose="02020603050405020304" pitchFamily="18" charset="0"/>
                        </a:rPr>
                        <a:t>16-</a:t>
                      </a:r>
                      <a:r>
                        <a:rPr sz="1800" dirty="0">
                          <a:latin typeface="Times New Roman" panose="02020603050405020304" pitchFamily="18" charset="0"/>
                          <a:cs typeface="Times New Roman" panose="02020603050405020304" pitchFamily="18" charset="0"/>
                        </a:rPr>
                        <a:t>Jan</a:t>
                      </a:r>
                      <a:r>
                        <a:rPr sz="1800" spc="80"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55"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10-</a:t>
                      </a:r>
                      <a:r>
                        <a:rPr sz="1800" spc="-25" dirty="0">
                          <a:latin typeface="Times New Roman" panose="02020603050405020304" pitchFamily="18" charset="0"/>
                          <a:cs typeface="Times New Roman" panose="02020603050405020304" pitchFamily="18" charset="0"/>
                        </a:rPr>
                        <a:t>Feb</a:t>
                      </a:r>
                      <a:endParaRPr sz="1800">
                        <a:latin typeface="Times New Roman" panose="02020603050405020304" pitchFamily="18" charset="0"/>
                        <a:cs typeface="Times New Roman" panose="02020603050405020304" pitchFamily="18" charset="0"/>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marL="92710">
                        <a:lnSpc>
                          <a:spcPct val="100000"/>
                        </a:lnSpc>
                        <a:spcBef>
                          <a:spcPts val="300"/>
                        </a:spcBef>
                      </a:pPr>
                      <a:r>
                        <a:rPr lang="en-US" dirty="0">
                          <a:latin typeface="Times New Roman" panose="02020603050405020304" pitchFamily="18" charset="0"/>
                          <a:cs typeface="Times New Roman" panose="02020603050405020304" pitchFamily="18" charset="0"/>
                        </a:rPr>
                        <a:t>Cloud-hosted version with EMR, AI,</a:t>
                      </a:r>
                      <a:endParaRPr sz="1800" dirty="0">
                        <a:latin typeface="Times New Roman" panose="02020603050405020304" pitchFamily="18" charset="0"/>
                        <a:cs typeface="Times New Roman" panose="02020603050405020304" pitchFamily="18" charset="0"/>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tc>
                  <a:txBody>
                    <a:bodyPr/>
                    <a:lstStyle/>
                    <a:p>
                      <a:pPr marL="96520">
                        <a:lnSpc>
                          <a:spcPct val="100000"/>
                        </a:lnSpc>
                        <a:spcBef>
                          <a:spcPts val="300"/>
                        </a:spcBef>
                      </a:pPr>
                      <a:r>
                        <a:rPr lang="en-US" dirty="0">
                          <a:latin typeface="Times New Roman" panose="02020603050405020304" pitchFamily="18" charset="0"/>
                          <a:cs typeface="Times New Roman" panose="02020603050405020304" pitchFamily="18" charset="0"/>
                        </a:rPr>
                        <a:t>Beta testing, feedback forms, early metrics</a:t>
                      </a:r>
                      <a:endParaRPr sz="1800" dirty="0">
                        <a:latin typeface="Times New Roman" panose="02020603050405020304" pitchFamily="18" charset="0"/>
                        <a:cs typeface="Times New Roman" panose="02020603050405020304" pitchFamily="18" charset="0"/>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BE9CD"/>
                    </a:solidFill>
                  </a:tcPr>
                </a:tc>
                <a:extLst>
                  <a:ext uri="{0D108BD9-81ED-4DB2-BD59-A6C34878D82A}">
                    <a16:rowId xmlns:a16="http://schemas.microsoft.com/office/drawing/2014/main" val="10005"/>
                  </a:ext>
                </a:extLst>
              </a:tr>
              <a:tr h="473888">
                <a:tc>
                  <a:txBody>
                    <a:bodyPr/>
                    <a:lstStyle/>
                    <a:p>
                      <a:pPr marL="91440">
                        <a:lnSpc>
                          <a:spcPct val="100000"/>
                        </a:lnSpc>
                        <a:spcBef>
                          <a:spcPts val="300"/>
                        </a:spcBef>
                      </a:pPr>
                      <a:r>
                        <a:rPr sz="1800" dirty="0">
                          <a:latin typeface="Times New Roman" panose="02020603050405020304" pitchFamily="18" charset="0"/>
                          <a:cs typeface="Times New Roman" panose="02020603050405020304" pitchFamily="18" charset="0"/>
                        </a:rPr>
                        <a:t>Final</a:t>
                      </a:r>
                      <a:r>
                        <a:rPr sz="1800" spc="-90" dirty="0">
                          <a:latin typeface="Times New Roman" panose="02020603050405020304" pitchFamily="18" charset="0"/>
                          <a:cs typeface="Times New Roman" panose="02020603050405020304" pitchFamily="18" charset="0"/>
                        </a:rPr>
                        <a:t> </a:t>
                      </a:r>
                      <a:r>
                        <a:rPr sz="1800" spc="-10" dirty="0">
                          <a:latin typeface="Times New Roman" panose="02020603050405020304" pitchFamily="18" charset="0"/>
                          <a:cs typeface="Times New Roman" panose="02020603050405020304" pitchFamily="18" charset="0"/>
                        </a:rPr>
                        <a:t>Product</a:t>
                      </a:r>
                      <a:endParaRPr sz="1800">
                        <a:latin typeface="Times New Roman" panose="02020603050405020304" pitchFamily="18" charset="0"/>
                        <a:cs typeface="Times New Roman" panose="02020603050405020304" pitchFamily="18" charset="0"/>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2075">
                        <a:lnSpc>
                          <a:spcPct val="100000"/>
                        </a:lnSpc>
                        <a:spcBef>
                          <a:spcPts val="300"/>
                        </a:spcBef>
                      </a:pPr>
                      <a:r>
                        <a:rPr sz="1800" spc="-45" dirty="0">
                          <a:latin typeface="Times New Roman" panose="02020603050405020304" pitchFamily="18" charset="0"/>
                          <a:cs typeface="Times New Roman" panose="02020603050405020304" pitchFamily="18" charset="0"/>
                        </a:rPr>
                        <a:t>11-</a:t>
                      </a:r>
                      <a:r>
                        <a:rPr sz="1800" dirty="0">
                          <a:latin typeface="Times New Roman" panose="02020603050405020304" pitchFamily="18" charset="0"/>
                          <a:cs typeface="Times New Roman" panose="02020603050405020304" pitchFamily="18" charset="0"/>
                        </a:rPr>
                        <a:t>Feb</a:t>
                      </a:r>
                      <a:r>
                        <a:rPr sz="1800" spc="85" dirty="0">
                          <a:latin typeface="Times New Roman" panose="02020603050405020304" pitchFamily="18" charset="0"/>
                          <a:cs typeface="Times New Roman" panose="02020603050405020304" pitchFamily="18" charset="0"/>
                        </a:rPr>
                        <a:t> </a:t>
                      </a:r>
                      <a:r>
                        <a:rPr sz="1800" dirty="0">
                          <a:latin typeface="Times New Roman" panose="02020603050405020304" pitchFamily="18" charset="0"/>
                          <a:cs typeface="Times New Roman" panose="02020603050405020304" pitchFamily="18" charset="0"/>
                        </a:rPr>
                        <a:t>→</a:t>
                      </a:r>
                      <a:r>
                        <a:rPr sz="1800" spc="20" dirty="0">
                          <a:latin typeface="Times New Roman" panose="02020603050405020304" pitchFamily="18" charset="0"/>
                          <a:cs typeface="Times New Roman" panose="02020603050405020304" pitchFamily="18" charset="0"/>
                        </a:rPr>
                        <a:t> </a:t>
                      </a:r>
                      <a:r>
                        <a:rPr sz="1800" spc="-45" dirty="0">
                          <a:latin typeface="Times New Roman" panose="02020603050405020304" pitchFamily="18" charset="0"/>
                          <a:cs typeface="Times New Roman" panose="02020603050405020304" pitchFamily="18" charset="0"/>
                        </a:rPr>
                        <a:t>28-</a:t>
                      </a:r>
                      <a:r>
                        <a:rPr sz="1800" spc="-25" dirty="0">
                          <a:latin typeface="Times New Roman" panose="02020603050405020304" pitchFamily="18" charset="0"/>
                          <a:cs typeface="Times New Roman" panose="02020603050405020304" pitchFamily="18" charset="0"/>
                        </a:rPr>
                        <a:t>Feb</a:t>
                      </a:r>
                      <a:endParaRPr sz="1800">
                        <a:latin typeface="Times New Roman" panose="02020603050405020304" pitchFamily="18" charset="0"/>
                        <a:cs typeface="Times New Roman" panose="02020603050405020304" pitchFamily="18" charset="0"/>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2710">
                        <a:lnSpc>
                          <a:spcPct val="100000"/>
                        </a:lnSpc>
                        <a:spcBef>
                          <a:spcPts val="300"/>
                        </a:spcBef>
                      </a:pPr>
                      <a:r>
                        <a:rPr lang="en-US" sz="1800" dirty="0">
                          <a:latin typeface="Times New Roman" panose="02020603050405020304" pitchFamily="18" charset="0"/>
                          <a:cs typeface="Times New Roman" panose="02020603050405020304" pitchFamily="18" charset="0"/>
                        </a:rPr>
                        <a:t>Final launch</a:t>
                      </a:r>
                      <a:endParaRPr sz="1800" dirty="0">
                        <a:latin typeface="Times New Roman" panose="02020603050405020304" pitchFamily="18" charset="0"/>
                        <a:cs typeface="Times New Roman" panose="02020603050405020304" pitchFamily="18" charset="0"/>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tc>
                  <a:txBody>
                    <a:bodyPr/>
                    <a:lstStyle/>
                    <a:p>
                      <a:pPr marL="96520">
                        <a:lnSpc>
                          <a:spcPct val="100000"/>
                        </a:lnSpc>
                        <a:spcBef>
                          <a:spcPts val="300"/>
                        </a:spcBef>
                      </a:pPr>
                      <a:r>
                        <a:rPr lang="en-IN" dirty="0">
                          <a:latin typeface="Times New Roman" panose="02020603050405020304" pitchFamily="18" charset="0"/>
                          <a:cs typeface="Times New Roman" panose="02020603050405020304" pitchFamily="18" charset="0"/>
                        </a:rPr>
                        <a:t>Adoption analytics</a:t>
                      </a:r>
                      <a:endParaRPr sz="1800" dirty="0">
                        <a:latin typeface="Times New Roman" panose="02020603050405020304" pitchFamily="18" charset="0"/>
                        <a:cs typeface="Times New Roman" panose="02020603050405020304" pitchFamily="18" charset="0"/>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4E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marR="5080">
              <a:lnSpc>
                <a:spcPct val="100000"/>
              </a:lnSpc>
              <a:spcBef>
                <a:spcPts val="100"/>
              </a:spcBef>
            </a:pPr>
            <a:r>
              <a:rPr spc="-25" dirty="0"/>
              <a:t>Risks,</a:t>
            </a:r>
            <a:r>
              <a:rPr spc="-300" dirty="0"/>
              <a:t> </a:t>
            </a:r>
            <a:r>
              <a:rPr spc="-10" dirty="0"/>
              <a:t>Assumptions</a:t>
            </a:r>
            <a:r>
              <a:rPr spc="-130" dirty="0"/>
              <a:t> </a:t>
            </a:r>
            <a:r>
              <a:rPr spc="-50" dirty="0"/>
              <a:t>&amp; </a:t>
            </a:r>
            <a:r>
              <a:rPr spc="-10" dirty="0"/>
              <a:t>Dependencies</a:t>
            </a:r>
          </a:p>
        </p:txBody>
      </p:sp>
      <p:sp>
        <p:nvSpPr>
          <p:cNvPr id="3" name="object 3"/>
          <p:cNvSpPr txBox="1"/>
          <p:nvPr/>
        </p:nvSpPr>
        <p:spPr>
          <a:xfrm>
            <a:off x="688340" y="2046097"/>
            <a:ext cx="5967095" cy="2499402"/>
          </a:xfrm>
          <a:prstGeom prst="rect">
            <a:avLst/>
          </a:prstGeom>
        </p:spPr>
        <p:txBody>
          <a:bodyPr vert="horz" wrap="square" lIns="0" tIns="140970" rIns="0" bIns="0" rtlCol="0">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Risk:</a:t>
            </a:r>
            <a:r>
              <a:rPr lang="en-IN" dirty="0">
                <a:latin typeface="Times New Roman" panose="02020603050405020304" pitchFamily="18" charset="0"/>
                <a:cs typeface="Times New Roman" panose="02020603050405020304" pitchFamily="18" charset="0"/>
              </a:rPr>
              <a:t> Low Digital Literacy.</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Mitigation:</a:t>
            </a:r>
            <a:r>
              <a:rPr lang="en-IN" dirty="0">
                <a:latin typeface="Times New Roman" panose="02020603050405020304" pitchFamily="18" charset="0"/>
                <a:cs typeface="Times New Roman" panose="02020603050405020304" pitchFamily="18" charset="0"/>
              </a:rPr>
              <a:t> Voice-first UI, icon-based navigation.</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Risk:</a:t>
            </a:r>
            <a:r>
              <a:rPr lang="en-IN" dirty="0">
                <a:latin typeface="Times New Roman" panose="02020603050405020304" pitchFamily="18" charset="0"/>
                <a:cs typeface="Times New Roman" panose="02020603050405020304" pitchFamily="18" charset="0"/>
              </a:rPr>
              <a:t> Unreliable Internet.</a:t>
            </a:r>
          </a:p>
          <a:p>
            <a:pPr marL="285750" lvl="1"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Mitigation:</a:t>
            </a:r>
            <a:r>
              <a:rPr lang="en-IN" dirty="0">
                <a:latin typeface="Times New Roman" panose="02020603050405020304" pitchFamily="18" charset="0"/>
                <a:cs typeface="Times New Roman" panose="02020603050405020304" pitchFamily="18" charset="0"/>
              </a:rPr>
              <a:t> Offline-first design philosophy.</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Risk:</a:t>
            </a:r>
            <a:r>
              <a:rPr lang="en-IN" dirty="0">
                <a:latin typeface="Times New Roman" panose="02020603050405020304" pitchFamily="18" charset="0"/>
                <a:cs typeface="Times New Roman" panose="02020603050405020304" pitchFamily="18" charset="0"/>
              </a:rPr>
              <a:t> Doctor/Pharmacy Buy-in.</a:t>
            </a:r>
          </a:p>
          <a:p>
            <a:pPr marL="285750" lvl="1"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Mitigation:</a:t>
            </a:r>
            <a:r>
              <a:rPr lang="en-IN" dirty="0">
                <a:latin typeface="Times New Roman" panose="02020603050405020304" pitchFamily="18" charset="0"/>
                <a:cs typeface="Times New Roman" panose="02020603050405020304" pitchFamily="18" charset="0"/>
              </a:rPr>
              <a:t> Demonstrate value with MVP; start with pilot partners</a:t>
            </a:r>
          </a:p>
          <a:p>
            <a:pPr marL="12700">
              <a:lnSpc>
                <a:spcPct val="100000"/>
              </a:lnSpc>
              <a:spcBef>
                <a:spcPts val="1110"/>
              </a:spcBef>
              <a:tabLst>
                <a:tab pos="356870" algn="l"/>
              </a:tabLst>
            </a:pPr>
            <a:endParaRPr sz="1800" dirty="0">
              <a:latin typeface="Trebuchet MS"/>
              <a:cs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References</a:t>
            </a:r>
          </a:p>
        </p:txBody>
      </p:sp>
      <p:sp>
        <p:nvSpPr>
          <p:cNvPr id="5" name="TextBox 4">
            <a:extLst>
              <a:ext uri="{FF2B5EF4-FFF2-40B4-BE49-F238E27FC236}">
                <a16:creationId xmlns:a16="http://schemas.microsoft.com/office/drawing/2014/main" id="{54CD0CF5-3F93-C95A-0F11-FA147E002C0A}"/>
              </a:ext>
            </a:extLst>
          </p:cNvPr>
          <p:cNvSpPr txBox="1"/>
          <p:nvPr/>
        </p:nvSpPr>
        <p:spPr>
          <a:xfrm>
            <a:off x="990600" y="1757567"/>
            <a:ext cx="6102349" cy="4039567"/>
          </a:xfrm>
          <a:prstGeom prst="rect">
            <a:avLst/>
          </a:prstGeom>
          <a:noFill/>
        </p:spPr>
        <p:txBody>
          <a:bodyPr wrap="square">
            <a:spAutoFit/>
          </a:bodyPr>
          <a:lstStyle/>
          <a:p>
            <a:pPr marL="342900" indent="-342900">
              <a:buFont typeface="Arial" panose="020B0604020202020204" pitchFamily="34" charset="0"/>
              <a:buChar char="•"/>
            </a:pPr>
            <a:r>
              <a:rPr lang="en-US" dirty="0"/>
              <a:t>Govt. of Punjab. (2024). </a:t>
            </a:r>
            <a:r>
              <a:rPr lang="en-US" i="1" dirty="0"/>
              <a:t>Health Infrastructure Report, Nabha.</a:t>
            </a:r>
            <a:endParaRPr lang="en-US" dirty="0"/>
          </a:p>
          <a:p>
            <a:pPr marL="342900" indent="-342900">
              <a:buFont typeface="Arial" panose="020B0604020202020204" pitchFamily="34" charset="0"/>
              <a:buChar char="•"/>
            </a:pPr>
            <a:r>
              <a:rPr lang="en-US" dirty="0"/>
              <a:t> Ministry of Statistics. (2023). </a:t>
            </a:r>
            <a:r>
              <a:rPr lang="en-US" i="1" dirty="0"/>
              <a:t>Household Social Consumption.</a:t>
            </a:r>
            <a:endParaRPr lang="en-US" dirty="0"/>
          </a:p>
          <a:p>
            <a:pPr marL="342900" indent="-342900">
              <a:buFont typeface="Arial" panose="020B0604020202020204" pitchFamily="34" charset="0"/>
              <a:buChar char="•"/>
            </a:pPr>
            <a:r>
              <a:rPr lang="en-US" dirty="0"/>
              <a:t>  WHO. (2021). </a:t>
            </a:r>
            <a:r>
              <a:rPr lang="en-US" i="1" dirty="0"/>
              <a:t>mHealth Guidelines.</a:t>
            </a:r>
            <a:endParaRPr lang="en-US" dirty="0"/>
          </a:p>
          <a:p>
            <a:pPr marL="342900" indent="-342900">
              <a:buFont typeface="Arial" panose="020B0604020202020204" pitchFamily="34" charset="0"/>
              <a:buChar char="•"/>
            </a:pPr>
            <a:r>
              <a:rPr lang="en-US" dirty="0"/>
              <a:t>Kumar &amp; Srivastava. (2022). </a:t>
            </a:r>
            <a:r>
              <a:rPr lang="en-US" i="1" dirty="0"/>
              <a:t>Journal of Health Informatics in Developing Countries</a:t>
            </a:r>
            <a:endParaRPr lang="en-US" dirty="0"/>
          </a:p>
          <a:p>
            <a:pPr marL="285750" indent="-285750" algn="l">
              <a:spcBef>
                <a:spcPts val="1200"/>
              </a:spcBef>
              <a:buFont typeface="Arial" panose="020B0604020202020204" pitchFamily="34" charset="0"/>
              <a:buChar char="•"/>
            </a:pPr>
            <a:r>
              <a:rPr lang="en-US" b="0" i="0" dirty="0">
                <a:solidFill>
                  <a:srgbClr val="F9FAFB"/>
                </a:solidFill>
                <a:effectLst/>
                <a:latin typeface="quote-cjk-patch"/>
              </a:rPr>
              <a:t>Govt. of Punjab. (2024). </a:t>
            </a:r>
            <a:r>
              <a:rPr lang="en-US" b="0" i="1" dirty="0">
                <a:solidFill>
                  <a:srgbClr val="F9FAFB"/>
                </a:solidFill>
                <a:effectLst/>
                <a:latin typeface="quote-cjk-patch"/>
              </a:rPr>
              <a:t>Health Infrastructure Report, Nabha.</a:t>
            </a:r>
            <a:endParaRPr lang="en-US" b="0" i="0" dirty="0">
              <a:solidFill>
                <a:srgbClr val="F9FAFB"/>
              </a:solidFill>
              <a:effectLst/>
              <a:latin typeface="quote-cjk-patch"/>
            </a:endParaRPr>
          </a:p>
          <a:p>
            <a:pPr algn="l">
              <a:spcBef>
                <a:spcPts val="450"/>
              </a:spcBef>
              <a:buFont typeface="+mj-lt"/>
              <a:buAutoNum type="arabicPeriod"/>
            </a:pPr>
            <a:r>
              <a:rPr lang="en-US" b="0" i="0" dirty="0">
                <a:solidFill>
                  <a:srgbClr val="F9FAFB"/>
                </a:solidFill>
                <a:effectLst/>
                <a:latin typeface="quote-cjk-patch"/>
              </a:rPr>
              <a:t>Ministry of Statistics. (2023). </a:t>
            </a:r>
            <a:r>
              <a:rPr lang="en-US" b="0" i="1" dirty="0">
                <a:solidFill>
                  <a:srgbClr val="F9FAFB"/>
                </a:solidFill>
                <a:effectLst/>
                <a:latin typeface="quote-cjk-patch"/>
              </a:rPr>
              <a:t>Household Social Consumption.</a:t>
            </a:r>
            <a:endParaRPr lang="en-US" b="0" i="0" dirty="0">
              <a:solidFill>
                <a:srgbClr val="F9FAFB"/>
              </a:solidFill>
              <a:effectLst/>
              <a:latin typeface="quote-cjk-patch"/>
            </a:endParaRPr>
          </a:p>
          <a:p>
            <a:pPr algn="l">
              <a:spcBef>
                <a:spcPts val="450"/>
              </a:spcBef>
              <a:buFont typeface="+mj-lt"/>
              <a:buAutoNum type="arabicPeriod"/>
            </a:pPr>
            <a:r>
              <a:rPr lang="en-US" b="0" i="0" dirty="0">
                <a:solidFill>
                  <a:srgbClr val="F9FAFB"/>
                </a:solidFill>
                <a:effectLst/>
                <a:latin typeface="quote-cjk-patch"/>
              </a:rPr>
              <a:t>WHO. (2021). </a:t>
            </a:r>
            <a:r>
              <a:rPr lang="en-US" b="0" i="1" dirty="0">
                <a:solidFill>
                  <a:srgbClr val="F9FAFB"/>
                </a:solidFill>
                <a:effectLst/>
                <a:latin typeface="quote-cjk-patch"/>
              </a:rPr>
              <a:t>mHealth Guidelines.</a:t>
            </a:r>
            <a:endParaRPr lang="en-US" b="0" i="0" dirty="0">
              <a:solidFill>
                <a:srgbClr val="F9FAFB"/>
              </a:solidFill>
              <a:effectLst/>
              <a:latin typeface="quote-cjk-patch"/>
            </a:endParaRPr>
          </a:p>
          <a:p>
            <a:pPr algn="l">
              <a:spcBef>
                <a:spcPts val="450"/>
              </a:spcBef>
              <a:buFont typeface="+mj-lt"/>
              <a:buAutoNum type="arabicPeriod"/>
            </a:pPr>
            <a:r>
              <a:rPr lang="en-US" b="0" i="0" dirty="0">
                <a:solidFill>
                  <a:srgbClr val="F9FAFB"/>
                </a:solidFill>
                <a:effectLst/>
                <a:latin typeface="quote-cjk-patch"/>
              </a:rPr>
              <a:t>Kumar &amp; Srivastava. (2022). </a:t>
            </a:r>
            <a:r>
              <a:rPr lang="en-US" b="0" i="1" dirty="0">
                <a:solidFill>
                  <a:srgbClr val="F9FAFB"/>
                </a:solidFill>
                <a:effectLst/>
                <a:latin typeface="quote-cjk-patch"/>
              </a:rPr>
              <a:t>Journal of Health Informatics in Developing Countries</a:t>
            </a:r>
            <a:endParaRPr lang="en-US" b="0" i="0" dirty="0">
              <a:solidFill>
                <a:srgbClr val="F9FAFB"/>
              </a:solidFill>
              <a:effectLst/>
              <a:latin typeface="quote-cjk-patch"/>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9C83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TotalTime>
  <Words>889</Words>
  <Application>Microsoft Office PowerPoint</Application>
  <PresentationFormat>On-screen Show (4:3)</PresentationFormat>
  <Paragraphs>165</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Lucida Sans Unicode</vt:lpstr>
      <vt:lpstr>quote-cjk-patch</vt:lpstr>
      <vt:lpstr>Times New Roman</vt:lpstr>
      <vt:lpstr>Trebuchet MS</vt:lpstr>
      <vt:lpstr>Wingdings</vt:lpstr>
      <vt:lpstr>Office Theme</vt:lpstr>
      <vt:lpstr>SoI Student Project Review</vt:lpstr>
      <vt:lpstr>Problem &amp; End User Identification</vt:lpstr>
      <vt:lpstr>Problem Description</vt:lpstr>
      <vt:lpstr>Proposed Solution</vt:lpstr>
      <vt:lpstr>Literature Survey (Research)</vt:lpstr>
      <vt:lpstr>Existing Solutions (Products/Services)</vt:lpstr>
      <vt:lpstr>Our Unique Selling Proposition (USP)</vt:lpstr>
      <vt:lpstr>Project Plan &amp; Timeline</vt:lpstr>
      <vt:lpstr>Risks, Assumptions &amp; Dependencies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Manisha</dc:creator>
  <cp:lastModifiedBy>Uma Mageshwari</cp:lastModifiedBy>
  <cp:revision>5</cp:revision>
  <dcterms:created xsi:type="dcterms:W3CDTF">2025-10-09T11:26:08Z</dcterms:created>
  <dcterms:modified xsi:type="dcterms:W3CDTF">2025-10-09T12:56:21Z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2025-09-25T00:00:00Z</vt:filetime>
  </property>
  <property fmtid="{D5CDD505-2E9C-101B-9397-08002B2CF9AE}" pid="3" name="Creator">
    <vt:lpwstr>Microsoft® PowerPoint® 2016</vt:lpwstr>
  </property>
  <property fmtid="{D5CDD505-2E9C-101B-9397-08002B2CF9AE}" pid="4" name="LastSaved">
    <vt:filetime>2025-10-09T00:00:00Z</vt:filetime>
  </property>
  <property fmtid="{D5CDD505-2E9C-101B-9397-08002B2CF9AE}" pid="5" name="Producer">
    <vt:lpwstr>www.ilovepdf.com</vt:lpwstr>
  </property>
</Properties>
</file>